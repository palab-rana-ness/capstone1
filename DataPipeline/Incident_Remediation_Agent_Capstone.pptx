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a3b3539-2b22-6cad-8f7d-cf0d439715ca}">
          <p14:sldIdLst>
            <p14:sldId id="256"/>
            <p14:sldId id="257"/>
          </p14:sldIdLst>
        </p14:section>
        <p14:section name="Problem" id="{d3a4d4ec-ed7d-4ae3-2eb0-d7b09872747c}">
          <p14:sldIdLst>
            <p14:sldId id="258"/>
          </p14:sldIdLst>
        </p14:section>
        <p14:section name="Design" id="{a1fe8bb3-02f8-ac4e-ff92-51bc68c89d88}">
          <p14:sldIdLst>
            <p14:sldId id="259"/>
          </p14:sldIdLst>
        </p14:section>
        <p14:section name="AI" id="{26395f12-41e9-ef73-3016-1c15f94820d0}">
          <p14:sldIdLst>
            <p14:sldId id="260"/>
            <p14:sldId id="261"/>
          </p14:sldIdLst>
        </p14:section>
        <p14:section name="Integration" id="{b425cc57-f33f-6416-a1ba-9f826ef97efa}">
          <p14:sldIdLst>
            <p14:sldId id="262"/>
          </p14:sldIdLst>
        </p14:section>
        <p14:section name="Quality" id="{bce0033f-b800-198b-ec37-0474940ec5b0}">
          <p14:sldIdLst>
            <p14:sldId id="263"/>
            <p14:sldId id="264"/>
            <p14:sldId id="265"/>
          </p14:sldIdLst>
        </p14:section>
        <p14:section name="Wrap-up" id="{e7eb50ef-a2d1-727e-ca51-e763b07d6fab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 %</c:v>
                </c:pt>
              </c:strCache>
            </c:strRef>
          </c:tx>
          <c:spPr>
            <a:solidFill>
              <a:srgbClr val="0F9D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Business Problem Understanding</c:v>
                  </c:pt>
                  <c:pt idx="1">
                    <c:v>Solution Architecture &amp; Design</c:v>
                  </c:pt>
                  <c:pt idx="2">
                    <c:v>AI / LLM Implementation</c:v>
                  </c:pt>
                  <c:pt idx="3">
                    <c:v>RAG / Agent / Data Engineering</c:v>
                  </c:pt>
                  <c:pt idx="4">
                    <c:v>API, Security &amp; Enterprise Integration</c:v>
                  </c:pt>
                  <c:pt idx="5">
                    <c:v>Testing &amp; Evaluation</c:v>
                  </c:pt>
                  <c:pt idx="6">
                    <c:v>Cloud / DevOps / Deployment</c:v>
                  </c:pt>
                  <c:pt idx="7">
                    <c:v>Observability, Reliability &amp; Governance</c:v>
                  </c:pt>
                  <c:pt idx="8">
                    <c:v>Documentation &amp; Final Presentation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5</c:v>
                </c:pt>
                <c:pt idx="8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Assumption: this deck presents Capstone Option 2, since the uploaded prompts describe a pipeline-failure diagnosis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ONLY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Capstone Option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0876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Autonomous Post-Deployment Incident &amp; Remediation Agent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Agentic AI + DevOps + Observability + LLMOps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Three independent apps: UI  |  Data Pipeline  |  AI Diagnosis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How we are evaluated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56692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"/>
          <p:cNvSpPr/>
          <p:nvPr/>
        </p:nvSpPr>
        <p:spPr>
          <a:xfrm>
            <a:off x="6400800" y="1005840"/>
            <a:ext cx="2468880" cy="1737360"/>
          </a:xfrm>
          <a:prstGeom prst="rect">
            <a:avLst/>
          </a:prstGeom>
          <a:solidFill>
            <a:schemeClr val="bg1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5" name="Card accent"/>
          <p:cNvSpPr/>
          <p:nvPr/>
        </p:nvSpPr>
        <p:spPr>
          <a:xfrm>
            <a:off x="6400800" y="1005840"/>
            <a:ext cx="64008" cy="17373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583680" y="1097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Where the points are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1444752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AI/LLM (20%) is the heaviest area. Architecture and RAG/Data Engineering follow at 15% each.</a:t>
            </a:r>
            <a:endParaRPr lang="en-US" sz="1150" dirty="0"/>
          </a:p>
        </p:txBody>
      </p:sp>
      <p:sp>
        <p:nvSpPr>
          <p:cNvPr id="8" name="Card"/>
          <p:cNvSpPr/>
          <p:nvPr/>
        </p:nvSpPr>
        <p:spPr>
          <a:xfrm>
            <a:off x="6400800" y="2926080"/>
            <a:ext cx="2468880" cy="1828800"/>
          </a:xfrm>
          <a:prstGeom prst="rect">
            <a:avLst/>
          </a:prstGeom>
          <a:solidFill>
            <a:schemeClr val="bg1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6400800" y="2926080"/>
            <a:ext cx="64008" cy="18288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8368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Deck structure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3364992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Each of the next slides maps to one evaluation area, in order, with its weight shown top-right.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Business problem &amp; objective</a:t>
            </a:r>
            <a:endParaRPr lang="en-US" sz="2600" dirty="0"/>
          </a:p>
        </p:txBody>
      </p:sp>
      <p:sp>
        <p:nvSpPr>
          <p:cNvPr id="3" name="Weight badge"/>
          <p:cNvSpPr txBox="1"/>
          <p:nvPr/>
        </p:nvSpPr>
        <p:spPr>
          <a:xfrm>
            <a:off x="7223760" y="347472"/>
            <a:ext cx="1645920" cy="36576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10% of evaluation</a:t>
            </a:r>
            <a:endParaRPr lang="en-US" sz="1200" dirty="0"/>
          </a:p>
        </p:txBody>
      </p:sp>
      <p:sp>
        <p:nvSpPr>
          <p:cNvPr id="4" name="Card"/>
          <p:cNvSpPr/>
          <p:nvPr/>
        </p:nvSpPr>
        <p:spPr>
          <a:xfrm>
            <a:off x="457200" y="1097280"/>
            <a:ext cx="4023360" cy="1737360"/>
          </a:xfrm>
          <a:prstGeom prst="rect">
            <a:avLst/>
          </a:prstGeom>
          <a:solidFill>
            <a:schemeClr val="bg1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5" name="Card accent"/>
          <p:cNvSpPr/>
          <p:nvPr/>
        </p:nvSpPr>
        <p:spPr>
          <a:xfrm>
            <a:off x="457200" y="1097280"/>
            <a:ext cx="64008" cy="173736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36192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When a data pipeline fails after deployment, engineers manually dig through logs, traces and past incidents to find the cause and a fix.</a:t>
            </a:r>
            <a:endParaRPr lang="en-US" sz="1150" dirty="0"/>
          </a:p>
        </p:txBody>
      </p:sp>
      <p:sp>
        <p:nvSpPr>
          <p:cNvPr id="8" name="Card"/>
          <p:cNvSpPr/>
          <p:nvPr/>
        </p:nvSpPr>
        <p:spPr>
          <a:xfrm>
            <a:off x="4663440" y="1097280"/>
            <a:ext cx="4206240" cy="1737360"/>
          </a:xfrm>
          <a:prstGeom prst="rect">
            <a:avLst/>
          </a:prstGeom>
          <a:solidFill>
            <a:schemeClr val="bg1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4663440" y="1097280"/>
            <a:ext cx="64008" cy="17373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4632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The objective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536192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An agent that diagnoses a failed pipeline run: where it failed, root cause, evidence, remedies and a recommended action.</a:t>
            </a:r>
            <a:endParaRPr lang="en-US" sz="1150" dirty="0"/>
          </a:p>
        </p:txBody>
      </p:sp>
      <p:sp>
        <p:nvSpPr>
          <p:cNvPr id="12" name="Card"/>
          <p:cNvSpPr/>
          <p:nvPr/>
        </p:nvSpPr>
        <p:spPr>
          <a:xfrm>
            <a:off x="457200" y="3017520"/>
            <a:ext cx="8412480" cy="1737360"/>
          </a:xfrm>
          <a:prstGeom prst="rect">
            <a:avLst/>
          </a:prstGeom>
          <a:solidFill>
            <a:schemeClr val="bg1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3" name="Card accent"/>
          <p:cNvSpPr/>
          <p:nvPr/>
        </p:nvSpPr>
        <p:spPr>
          <a:xfrm>
            <a:off x="457200" y="3017520"/>
            <a:ext cx="64008" cy="173736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1089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Scope boundaries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456432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Spark is the main prototype adapter; Synapse is a prototype only.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The agent diagnoses and recommends. It never executes remediation; the Fix It button is a placeholder for future work.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Solution architecture &amp; design</a:t>
            </a:r>
            <a:endParaRPr lang="en-US" sz="2600" dirty="0"/>
          </a:p>
        </p:txBody>
      </p:sp>
      <p:sp>
        <p:nvSpPr>
          <p:cNvPr id="3" name="Weight badge"/>
          <p:cNvSpPr txBox="1"/>
          <p:nvPr/>
        </p:nvSpPr>
        <p:spPr>
          <a:xfrm>
            <a:off x="7223760" y="347472"/>
            <a:ext cx="1645920" cy="36576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15% of evaluation</a:t>
            </a:r>
            <a:endParaRPr lang="en-US" sz="1200" dirty="0"/>
          </a:p>
        </p:txBody>
      </p:sp>
      <p:sp>
        <p:nvSpPr>
          <p:cNvPr id="4" name="App box"/>
          <p:cNvSpPr/>
          <p:nvPr/>
        </p:nvSpPr>
        <p:spPr>
          <a:xfrm>
            <a:off x="457200" y="1188720"/>
            <a:ext cx="2468880" cy="137160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UI</a:t>
            </a:r>
            <a:endParaRPr lang="en-US" sz="17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Run Pipeline, status,</a:t>
            </a:r>
            <a:endParaRPr lang="en-US" sz="17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AI Diagnosis, Fix It</a:t>
            </a:r>
            <a:endParaRPr lang="en-US" sz="1700" dirty="0"/>
          </a:p>
        </p:txBody>
      </p:sp>
      <p:sp>
        <p:nvSpPr>
          <p:cNvPr id="6" name="Arrow"/>
          <p:cNvSpPr/>
          <p:nvPr/>
        </p:nvSpPr>
        <p:spPr>
          <a:xfrm>
            <a:off x="2999232" y="1737360"/>
            <a:ext cx="320040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7" name="App box"/>
          <p:cNvSpPr/>
          <p:nvPr/>
        </p:nvSpPr>
        <p:spPr>
          <a:xfrm>
            <a:off x="3383280" y="1188720"/>
            <a:ext cx="246888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83280" y="11887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Data Pipeline</a:t>
            </a:r>
            <a:endParaRPr lang="en-US" sz="17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Starts run, reports</a:t>
            </a:r>
            <a:endParaRPr lang="en-US" sz="17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RUNNING / SUCCESS / FAILED</a:t>
            </a:r>
            <a:endParaRPr lang="en-US" sz="1700" dirty="0"/>
          </a:p>
        </p:txBody>
      </p:sp>
      <p:sp>
        <p:nvSpPr>
          <p:cNvPr id="9" name="Arrow"/>
          <p:cNvSpPr/>
          <p:nvPr/>
        </p:nvSpPr>
        <p:spPr>
          <a:xfrm>
            <a:off x="5925312" y="1737360"/>
            <a:ext cx="320040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0" name="App box"/>
          <p:cNvSpPr/>
          <p:nvPr/>
        </p:nvSpPr>
        <p:spPr>
          <a:xfrm>
            <a:off x="6309360" y="1188720"/>
            <a:ext cx="2468880" cy="1371600"/>
          </a:xfrm>
          <a:prstGeom prst="roundRect">
            <a:avLst>
              <a:gd name="adj" fmla="val 6667"/>
            </a:avLst>
          </a:prstGeom>
          <a:solidFill>
            <a:schemeClr val="accent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11887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AI Diagnosis</a:t>
            </a:r>
            <a:endParaRPr lang="en-US" sz="17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LangGraph agent with</a:t>
            </a:r>
            <a:endParaRPr lang="en-US" sz="17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Chroma and New Relic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834640"/>
            <a:ext cx="8412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Three separate applications, each with its own port; never merged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pipeline run identifier ties every status and diagnosis to one run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canonical contract between UI and AI Diagnosis; normalise field names only at the boundary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Existing repository is the source of truth: no new schema, no invented fields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AI / LLM implementation: LangGraph agent</a:t>
            </a:r>
            <a:endParaRPr lang="en-US" sz="2600" dirty="0"/>
          </a:p>
        </p:txBody>
      </p:sp>
      <p:sp>
        <p:nvSpPr>
          <p:cNvPr id="3" name="Weight badge"/>
          <p:cNvSpPr txBox="1"/>
          <p:nvPr/>
        </p:nvSpPr>
        <p:spPr>
          <a:xfrm>
            <a:off x="7223760" y="347472"/>
            <a:ext cx="1645920" cy="36576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20% of evaluation</a:t>
            </a:r>
            <a:endParaRPr lang="en-US" sz="1200" dirty="0"/>
          </a:p>
        </p:txBody>
      </p:sp>
      <p:sp>
        <p:nvSpPr>
          <p:cNvPr id="4" name="Graph node"/>
          <p:cNvSpPr/>
          <p:nvPr/>
        </p:nvSpPr>
        <p:spPr>
          <a:xfrm>
            <a:off x="457200" y="1188720"/>
            <a:ext cx="187452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Validate incident</a:t>
            </a:r>
            <a:endParaRPr lang="en-US" sz="1200" dirty="0"/>
          </a:p>
        </p:txBody>
      </p:sp>
      <p:sp>
        <p:nvSpPr>
          <p:cNvPr id="6" name="Graph node"/>
          <p:cNvSpPr/>
          <p:nvPr/>
        </p:nvSpPr>
        <p:spPr>
          <a:xfrm>
            <a:off x="2606040" y="1188720"/>
            <a:ext cx="187452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606040" y="118872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Resolve adapter</a:t>
            </a:r>
            <a:endParaRPr lang="en-US" sz="1200" dirty="0"/>
          </a:p>
        </p:txBody>
      </p:sp>
      <p:sp>
        <p:nvSpPr>
          <p:cNvPr id="8" name="Graph node"/>
          <p:cNvSpPr/>
          <p:nvPr/>
        </p:nvSpPr>
        <p:spPr>
          <a:xfrm>
            <a:off x="4754880" y="1188720"/>
            <a:ext cx="187452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54880" y="118872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Gather evidence</a:t>
            </a:r>
            <a:endParaRPr lang="en-US" sz="1200" dirty="0"/>
          </a:p>
        </p:txBody>
      </p:sp>
      <p:sp>
        <p:nvSpPr>
          <p:cNvPr id="10" name="Graph node"/>
          <p:cNvSpPr/>
          <p:nvPr/>
        </p:nvSpPr>
        <p:spPr>
          <a:xfrm>
            <a:off x="6903720" y="1188720"/>
            <a:ext cx="187452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03720" y="118872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Retrieve similar incidents</a:t>
            </a:r>
            <a:endParaRPr lang="en-US" sz="1200" dirty="0"/>
          </a:p>
        </p:txBody>
      </p:sp>
      <p:sp>
        <p:nvSpPr>
          <p:cNvPr id="12" name="Graph node"/>
          <p:cNvSpPr/>
          <p:nvPr/>
        </p:nvSpPr>
        <p:spPr>
          <a:xfrm>
            <a:off x="457200" y="2423160"/>
            <a:ext cx="1874520" cy="868680"/>
          </a:xfrm>
          <a:prstGeom prst="roundRect">
            <a:avLst>
              <a:gd name="adj" fmla="val 8421"/>
            </a:avLst>
          </a:prstGeom>
          <a:solidFill>
            <a:schemeClr val="accent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242316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Diagnose failure</a:t>
            </a:r>
            <a:endParaRPr lang="en-US" sz="1200" dirty="0"/>
          </a:p>
        </p:txBody>
      </p:sp>
      <p:sp>
        <p:nvSpPr>
          <p:cNvPr id="14" name="Graph node"/>
          <p:cNvSpPr/>
          <p:nvPr/>
        </p:nvSpPr>
        <p:spPr>
          <a:xfrm>
            <a:off x="2606040" y="2423160"/>
            <a:ext cx="1874520" cy="868680"/>
          </a:xfrm>
          <a:prstGeom prst="roundRect">
            <a:avLst>
              <a:gd name="adj" fmla="val 8421"/>
            </a:avLst>
          </a:prstGeom>
          <a:solidFill>
            <a:schemeClr val="accent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606040" y="242316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Generate remedies</a:t>
            </a:r>
            <a:endParaRPr lang="en-US" sz="1200" dirty="0"/>
          </a:p>
        </p:txBody>
      </p:sp>
      <p:sp>
        <p:nvSpPr>
          <p:cNvPr id="16" name="Graph node"/>
          <p:cNvSpPr/>
          <p:nvPr/>
        </p:nvSpPr>
        <p:spPr>
          <a:xfrm>
            <a:off x="4754880" y="2423160"/>
            <a:ext cx="1874520" cy="868680"/>
          </a:xfrm>
          <a:prstGeom prst="roundRect">
            <a:avLst>
              <a:gd name="adj" fmla="val 8421"/>
            </a:avLst>
          </a:prstGeom>
          <a:solidFill>
            <a:schemeClr val="accent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54880" y="242316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Validate remedies</a:t>
            </a:r>
            <a:endParaRPr lang="en-US" sz="1200" dirty="0"/>
          </a:p>
        </p:txBody>
      </p:sp>
      <p:sp>
        <p:nvSpPr>
          <p:cNvPr id="18" name="Graph node"/>
          <p:cNvSpPr/>
          <p:nvPr/>
        </p:nvSpPr>
        <p:spPr>
          <a:xfrm>
            <a:off x="6903720" y="2423160"/>
            <a:ext cx="1874520" cy="868680"/>
          </a:xfrm>
          <a:prstGeom prst="roundRect">
            <a:avLst>
              <a:gd name="adj" fmla="val 8421"/>
            </a:avLst>
          </a:prstGeom>
          <a:solidFill>
            <a:schemeClr val="accent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03720" y="242316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Structured result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74904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 API must actually invoke the graph; no hard-coded responses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Adapter-specific diagnosis and remediation logic (Spark first)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Remedies are validated before being returned; nothing is executed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RAG, agent &amp; data engineering</a:t>
            </a:r>
            <a:endParaRPr lang="en-US" sz="2600" dirty="0"/>
          </a:p>
        </p:txBody>
      </p:sp>
      <p:sp>
        <p:nvSpPr>
          <p:cNvPr id="3" name="Weight badge"/>
          <p:cNvSpPr txBox="1"/>
          <p:nvPr/>
        </p:nvSpPr>
        <p:spPr>
          <a:xfrm>
            <a:off x="7223760" y="347472"/>
            <a:ext cx="1645920" cy="36576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15% of evaluation</a:t>
            </a:r>
            <a:endParaRPr lang="en-US" sz="1200" dirty="0"/>
          </a:p>
        </p:txBody>
      </p:sp>
      <p:sp>
        <p:nvSpPr>
          <p:cNvPr id="4" name="Card"/>
          <p:cNvSpPr/>
          <p:nvPr/>
        </p:nvSpPr>
        <p:spPr>
          <a:xfrm>
            <a:off x="457200" y="1097280"/>
            <a:ext cx="2697480" cy="3566160"/>
          </a:xfrm>
          <a:prstGeom prst="rect">
            <a:avLst/>
          </a:prstGeom>
          <a:solidFill>
            <a:schemeClr val="bg1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5" name="Card accent"/>
          <p:cNvSpPr/>
          <p:nvPr/>
        </p:nvSpPr>
        <p:spPr>
          <a:xfrm>
            <a:off x="457200" y="1097280"/>
            <a:ext cx="64008" cy="356616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Chroma memory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36192"/>
            <a:ext cx="2423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Past incidents are stored and retrieved by similarity.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Retrieval is filtered by tenant_id so tenant A never sees tenant B's incidents.</a:t>
            </a:r>
            <a:endParaRPr lang="en-US" sz="1150" dirty="0"/>
          </a:p>
        </p:txBody>
      </p:sp>
      <p:sp>
        <p:nvSpPr>
          <p:cNvPr id="8" name="Card"/>
          <p:cNvSpPr/>
          <p:nvPr/>
        </p:nvSpPr>
        <p:spPr>
          <a:xfrm>
            <a:off x="3291840" y="1097280"/>
            <a:ext cx="2697480" cy="3566160"/>
          </a:xfrm>
          <a:prstGeom prst="rect">
            <a:avLst/>
          </a:prstGeom>
          <a:solidFill>
            <a:schemeClr val="bg1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3291840" y="1097280"/>
            <a:ext cx="64008" cy="35661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1188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Spark adapter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536192"/>
            <a:ext cx="2423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Adapter-based design keeps diagnosis logic per technology.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Spark is the main adapter. Synapse stays a prototype. No new adapters and no real cluster calls.</a:t>
            </a:r>
            <a:endParaRPr lang="en-US" sz="1150" dirty="0"/>
          </a:p>
        </p:txBody>
      </p:sp>
      <p:sp>
        <p:nvSpPr>
          <p:cNvPr id="12" name="Card"/>
          <p:cNvSpPr/>
          <p:nvPr/>
        </p:nvSpPr>
        <p:spPr>
          <a:xfrm>
            <a:off x="6126480" y="1097280"/>
            <a:ext cx="2743200" cy="3566160"/>
          </a:xfrm>
          <a:prstGeom prst="rect">
            <a:avLst/>
          </a:prstGeom>
          <a:solidFill>
            <a:schemeClr val="bg1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3" name="Card accent"/>
          <p:cNvSpPr/>
          <p:nvPr/>
        </p:nvSpPr>
        <p:spPr>
          <a:xfrm>
            <a:off x="6126480" y="1097280"/>
            <a:ext cx="64008" cy="356616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9360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Evidence sources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1536192"/>
            <a:ext cx="24688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Failure info from UI / Data Pipeline; logs and telemetry from New Relic only where the architecture needs it.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No duplicated log paths and no fabricated data.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API, security &amp; enterprise integration</a:t>
            </a:r>
            <a:endParaRPr lang="en-US" sz="2600" dirty="0"/>
          </a:p>
        </p:txBody>
      </p:sp>
      <p:sp>
        <p:nvSpPr>
          <p:cNvPr id="3" name="Weight badge"/>
          <p:cNvSpPr txBox="1"/>
          <p:nvPr/>
        </p:nvSpPr>
        <p:spPr>
          <a:xfrm>
            <a:off x="7223760" y="347472"/>
            <a:ext cx="1645920" cy="36576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10% of evaluation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412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Tenant isolation end to end: UI to Data Pipeline to AI Diagnosis to Chroma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Service URLs and ports come from configuration, not hard-coded values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Correct endpoint paths, HTTP methods and CORS between the three apps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cross-service field checked for name, type, required/optional, nullability, producer and consumer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Unused fields removed only when the audit proves they are unused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Graceful handling of timeouts, 4xx/5xx, malformed JSON, invalid adapter and unavailable services; no fake SUCCESS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Testing &amp; evaluation</a:t>
            </a:r>
            <a:endParaRPr lang="en-US" sz="2600" dirty="0"/>
          </a:p>
        </p:txBody>
      </p:sp>
      <p:sp>
        <p:nvSpPr>
          <p:cNvPr id="3" name="Weight badge"/>
          <p:cNvSpPr txBox="1"/>
          <p:nvPr/>
        </p:nvSpPr>
        <p:spPr>
          <a:xfrm>
            <a:off x="7223760" y="347472"/>
            <a:ext cx="1645920" cy="36576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10% of evaluation</a:t>
            </a:r>
            <a:endParaRPr lang="en-US" sz="1200" dirty="0"/>
          </a:p>
        </p:txBody>
      </p:sp>
      <p:sp>
        <p:nvSpPr>
          <p:cNvPr id="4" name="Test row"/>
          <p:cNvSpPr/>
          <p:nvPr/>
        </p:nvSpPr>
        <p:spPr>
          <a:xfrm>
            <a:off x="457200" y="1051560"/>
            <a:ext cx="411480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5156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Run Pipeline → RUNNING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Real request, no faked state</a:t>
            </a:r>
            <a:endParaRPr lang="en-US" sz="1250" dirty="0"/>
          </a:p>
        </p:txBody>
      </p:sp>
      <p:sp>
        <p:nvSpPr>
          <p:cNvPr id="6" name="Test row"/>
          <p:cNvSpPr/>
          <p:nvPr/>
        </p:nvSpPr>
        <p:spPr>
          <a:xfrm>
            <a:off x="4709160" y="1051560"/>
            <a:ext cx="411480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05156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SUCCESS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Diagnosis button hidden, stale data cleared</a:t>
            </a:r>
            <a:endParaRPr lang="en-US" sz="1250" dirty="0"/>
          </a:p>
        </p:txBody>
      </p:sp>
      <p:sp>
        <p:nvSpPr>
          <p:cNvPr id="8" name="Test row"/>
          <p:cNvSpPr/>
          <p:nvPr/>
        </p:nvSpPr>
        <p:spPr>
          <a:xfrm>
            <a:off x="457200" y="1783080"/>
            <a:ext cx="411480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78308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FAILED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AI Diagnosis button visible only here</a:t>
            </a:r>
            <a:endParaRPr lang="en-US" sz="1250" dirty="0"/>
          </a:p>
        </p:txBody>
      </p:sp>
      <p:sp>
        <p:nvSpPr>
          <p:cNvPr id="10" name="Test row"/>
          <p:cNvSpPr/>
          <p:nvPr/>
        </p:nvSpPr>
        <p:spPr>
          <a:xfrm>
            <a:off x="4709160" y="1783080"/>
            <a:ext cx="411480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78308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Diagnosis request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UI payload matches the AI Diagnosis model</a:t>
            </a:r>
            <a:endParaRPr lang="en-US" sz="1250" dirty="0"/>
          </a:p>
        </p:txBody>
      </p:sp>
      <p:sp>
        <p:nvSpPr>
          <p:cNvPr id="12" name="Test row"/>
          <p:cNvSpPr/>
          <p:nvPr/>
        </p:nvSpPr>
        <p:spPr>
          <a:xfrm>
            <a:off x="457200" y="2514600"/>
            <a:ext cx="411480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51460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LangGraph &amp; Chroma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Graph runs; similar-incident retrieval works</a:t>
            </a:r>
            <a:endParaRPr lang="en-US" sz="1250" dirty="0"/>
          </a:p>
        </p:txBody>
      </p:sp>
      <p:sp>
        <p:nvSpPr>
          <p:cNvPr id="14" name="Test row"/>
          <p:cNvSpPr/>
          <p:nvPr/>
        </p:nvSpPr>
        <p:spPr>
          <a:xfrm>
            <a:off x="4709160" y="2514600"/>
            <a:ext cx="411480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251460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Tenant isolation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Tenant A and B never cross</a:t>
            </a:r>
            <a:endParaRPr lang="en-US" sz="1250" dirty="0"/>
          </a:p>
        </p:txBody>
      </p:sp>
      <p:sp>
        <p:nvSpPr>
          <p:cNvPr id="16" name="Test row"/>
          <p:cNvSpPr/>
          <p:nvPr/>
        </p:nvSpPr>
        <p:spPr>
          <a:xfrm>
            <a:off x="457200" y="3246120"/>
            <a:ext cx="411480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24612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Spark diagnosis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Spark-specific logic is used</a:t>
            </a:r>
            <a:endParaRPr lang="en-US" sz="1250" dirty="0"/>
          </a:p>
        </p:txBody>
      </p:sp>
      <p:sp>
        <p:nvSpPr>
          <p:cNvPr id="18" name="Test row"/>
          <p:cNvSpPr/>
          <p:nvPr/>
        </p:nvSpPr>
        <p:spPr>
          <a:xfrm>
            <a:off x="4709160" y="3246120"/>
            <a:ext cx="411480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24612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Failure conditions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11 cases incl. outages, bad JSON, repeated clicks</a:t>
            </a:r>
            <a:endParaRPr lang="en-US" sz="1250" dirty="0"/>
          </a:p>
        </p:txBody>
      </p:sp>
      <p:sp>
        <p:nvSpPr>
          <p:cNvPr id="20" name="Test row"/>
          <p:cNvSpPr/>
          <p:nvPr/>
        </p:nvSpPr>
        <p:spPr>
          <a:xfrm>
            <a:off x="457200" y="3977640"/>
            <a:ext cx="411480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97764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Race condition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Delayed run A cannot overwrite run B</a:t>
            </a:r>
            <a:endParaRPr lang="en-US" sz="1250" dirty="0"/>
          </a:p>
        </p:txBody>
      </p:sp>
      <p:sp>
        <p:nvSpPr>
          <p:cNvPr id="22" name="Test row"/>
          <p:cNvSpPr/>
          <p:nvPr/>
        </p:nvSpPr>
        <p:spPr>
          <a:xfrm>
            <a:off x="4709160" y="3977640"/>
            <a:ext cx="411480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6320" y="397764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Fix It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Executes nothing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Results are reported as PASS/FAIL only after each test is actually run.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Cloud, DevOps &amp; deployment</a:t>
            </a:r>
            <a:endParaRPr lang="en-US" sz="2600" dirty="0"/>
          </a:p>
        </p:txBody>
      </p:sp>
      <p:sp>
        <p:nvSpPr>
          <p:cNvPr id="3" name="Weight badge"/>
          <p:cNvSpPr txBox="1"/>
          <p:nvPr/>
        </p:nvSpPr>
        <p:spPr>
          <a:xfrm>
            <a:off x="7223760" y="347472"/>
            <a:ext cx="1645920" cy="36576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10% of evaluation</a:t>
            </a:r>
            <a:endParaRPr lang="en-US" sz="1200" dirty="0"/>
          </a:p>
        </p:txBody>
      </p:sp>
      <p:sp>
        <p:nvSpPr>
          <p:cNvPr id="4" name="Card"/>
          <p:cNvSpPr/>
          <p:nvPr/>
        </p:nvSpPr>
        <p:spPr>
          <a:xfrm>
            <a:off x="457200" y="1097280"/>
            <a:ext cx="4023360" cy="1645920"/>
          </a:xfrm>
          <a:prstGeom prst="rect">
            <a:avLst/>
          </a:prstGeom>
          <a:solidFill>
            <a:schemeClr val="bg1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5" name="Card accent"/>
          <p:cNvSpPr/>
          <p:nvPr/>
        </p:nvSpPr>
        <p:spPr>
          <a:xfrm>
            <a:off x="457200" y="1097280"/>
            <a:ext cx="64008" cy="16459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Independent deployables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36192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UI, Data Pipeline and AI Diagnosis each start from their own configured command on their own port.</a:t>
            </a:r>
            <a:endParaRPr lang="en-US" sz="1150" dirty="0"/>
          </a:p>
        </p:txBody>
      </p:sp>
      <p:sp>
        <p:nvSpPr>
          <p:cNvPr id="8" name="Card"/>
          <p:cNvSpPr/>
          <p:nvPr/>
        </p:nvSpPr>
        <p:spPr>
          <a:xfrm>
            <a:off x="4663440" y="1097280"/>
            <a:ext cx="4206240" cy="1645920"/>
          </a:xfrm>
          <a:prstGeom prst="rect">
            <a:avLst/>
          </a:prstGeom>
          <a:solidFill>
            <a:schemeClr val="bg1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4663440" y="1097280"/>
            <a:ext cx="64008" cy="1645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4632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Configuration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536192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Service URLs, ports and keys via environment variables; names kept consistent across the three apps.</a:t>
            </a:r>
            <a:endParaRPr lang="en-US" sz="1150" dirty="0"/>
          </a:p>
        </p:txBody>
      </p:sp>
      <p:sp>
        <p:nvSpPr>
          <p:cNvPr id="12" name="Card"/>
          <p:cNvSpPr/>
          <p:nvPr/>
        </p:nvSpPr>
        <p:spPr>
          <a:xfrm>
            <a:off x="457200" y="2926080"/>
            <a:ext cx="8412480" cy="1737360"/>
          </a:xfrm>
          <a:prstGeom prst="rect">
            <a:avLst/>
          </a:prstGeom>
          <a:solidFill>
            <a:schemeClr val="bg1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3" name="Card accent"/>
          <p:cNvSpPr/>
          <p:nvPr/>
        </p:nvSpPr>
        <p:spPr>
          <a:xfrm>
            <a:off x="457200" y="2926080"/>
            <a:ext cx="64008" cy="173736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0175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Verification before claiming success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364992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Start all three, confirm each port responds, and confirm each service URL points at the right app. Only then run the end-to-end scenarios.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Observability, reliability &amp; governance</a:t>
            </a:r>
            <a:endParaRPr lang="en-US" sz="2600" dirty="0"/>
          </a:p>
        </p:txBody>
      </p:sp>
      <p:sp>
        <p:nvSpPr>
          <p:cNvPr id="3" name="Weight badge"/>
          <p:cNvSpPr txBox="1"/>
          <p:nvPr/>
        </p:nvSpPr>
        <p:spPr>
          <a:xfrm>
            <a:off x="7223760" y="347472"/>
            <a:ext cx="1645920" cy="36576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5% of evaluation</a:t>
            </a:r>
            <a:endParaRPr lang="en-US" sz="1200" dirty="0"/>
          </a:p>
        </p:txBody>
      </p:sp>
      <p:sp>
        <p:nvSpPr>
          <p:cNvPr id="4" name="Card"/>
          <p:cNvSpPr/>
          <p:nvPr/>
        </p:nvSpPr>
        <p:spPr>
          <a:xfrm>
            <a:off x="457200" y="1097280"/>
            <a:ext cx="269748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5" name="Card accent"/>
          <p:cNvSpPr/>
          <p:nvPr/>
        </p:nvSpPr>
        <p:spPr>
          <a:xfrm>
            <a:off x="457200" y="1097280"/>
            <a:ext cx="64008" cy="329184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Observability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36192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New Relic supplies telemetry as evidence for diagnosis.</a:t>
            </a:r>
            <a:endParaRPr lang="en-US" sz="1150" dirty="0"/>
          </a:p>
        </p:txBody>
      </p:sp>
      <p:sp>
        <p:nvSpPr>
          <p:cNvPr id="8" name="Card"/>
          <p:cNvSpPr/>
          <p:nvPr/>
        </p:nvSpPr>
        <p:spPr>
          <a:xfrm>
            <a:off x="3291840" y="1097280"/>
            <a:ext cx="269748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3291840" y="1097280"/>
            <a:ext cx="64008" cy="32918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1188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Reliability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536192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Run identifier prevents stale responses overwriting a newer run; repeated clicks and slow responses are handled.</a:t>
            </a:r>
            <a:endParaRPr lang="en-US" sz="1150" dirty="0"/>
          </a:p>
        </p:txBody>
      </p:sp>
      <p:sp>
        <p:nvSpPr>
          <p:cNvPr id="12" name="Card"/>
          <p:cNvSpPr/>
          <p:nvPr/>
        </p:nvSpPr>
        <p:spPr>
          <a:xfrm>
            <a:off x="6126480" y="1097280"/>
            <a:ext cx="274320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3" name="Card accent"/>
          <p:cNvSpPr/>
          <p:nvPr/>
        </p:nvSpPr>
        <p:spPr>
          <a:xfrm>
            <a:off x="6126480" y="1097280"/>
            <a:ext cx="64008" cy="329184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9360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Governance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1536192"/>
            <a:ext cx="24688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Human stays in control: recommend only, no auto-remediation. Fix It is a non-functional placeholder.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Documentation &amp; delivery approach</a:t>
            </a:r>
            <a:endParaRPr lang="en-US" sz="2600" dirty="0"/>
          </a:p>
        </p:txBody>
      </p:sp>
      <p:sp>
        <p:nvSpPr>
          <p:cNvPr id="3" name="Weight badge"/>
          <p:cNvSpPr txBox="1"/>
          <p:nvPr/>
        </p:nvSpPr>
        <p:spPr>
          <a:xfrm>
            <a:off x="7223760" y="347472"/>
            <a:ext cx="1645920" cy="36576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5% of evaluation</a:t>
            </a:r>
            <a:endParaRPr lang="en-US" sz="1200" dirty="0"/>
          </a:p>
        </p:txBody>
      </p:sp>
      <p:sp>
        <p:nvSpPr>
          <p:cNvPr id="4" name="Phase card"/>
          <p:cNvSpPr/>
          <p:nvPr/>
        </p:nvSpPr>
        <p:spPr>
          <a:xfrm>
            <a:off x="457200" y="1188720"/>
            <a:ext cx="2697480" cy="2194560"/>
          </a:xfrm>
          <a:prstGeom prst="rect">
            <a:avLst/>
          </a:prstGeom>
          <a:solidFill>
            <a:schemeClr val="bg1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5" name="Phase header"/>
          <p:cNvSpPr/>
          <p:nvPr/>
        </p:nvSpPr>
        <p:spPr>
          <a:xfrm>
            <a:off x="457200" y="1188720"/>
            <a:ext cx="2697480" cy="5486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  Understand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7452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Read-only audit: apps, ports, flow, real schema, tenancy, problems</a:t>
            </a:r>
            <a:endParaRPr lang="en-US" sz="1300" dirty="0"/>
          </a:p>
        </p:txBody>
      </p:sp>
      <p:sp>
        <p:nvSpPr>
          <p:cNvPr id="8" name="Phase card"/>
          <p:cNvSpPr/>
          <p:nvPr/>
        </p:nvSpPr>
        <p:spPr>
          <a:xfrm>
            <a:off x="3337560" y="1188720"/>
            <a:ext cx="2697480" cy="2194560"/>
          </a:xfrm>
          <a:prstGeom prst="rect">
            <a:avLst/>
          </a:prstGeom>
          <a:solidFill>
            <a:schemeClr val="bg1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9" name="Phase header"/>
          <p:cNvSpPr/>
          <p:nvPr/>
        </p:nvSpPr>
        <p:spPr>
          <a:xfrm>
            <a:off x="3337560" y="1188720"/>
            <a:ext cx="2697480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  Integrate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87452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Smallest fixes so the three apps communicate; schema from the repo</a:t>
            </a:r>
            <a:endParaRPr lang="en-US" sz="1300" dirty="0"/>
          </a:p>
        </p:txBody>
      </p:sp>
      <p:sp>
        <p:nvSpPr>
          <p:cNvPr id="12" name="Phase card"/>
          <p:cNvSpPr/>
          <p:nvPr/>
        </p:nvSpPr>
        <p:spPr>
          <a:xfrm>
            <a:off x="6217920" y="1188720"/>
            <a:ext cx="2697480" cy="2194560"/>
          </a:xfrm>
          <a:prstGeom prst="rect">
            <a:avLst/>
          </a:prstGeom>
          <a:solidFill>
            <a:schemeClr val="bg1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3" name="Phase header"/>
          <p:cNvSpPr/>
          <p:nvPr/>
        </p:nvSpPr>
        <p:spPr>
          <a:xfrm>
            <a:off x="6217920" y="1188720"/>
            <a:ext cx="2697480" cy="54864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5508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  Execute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187452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all three, test 15 areas, fix mismatches, report PASS/FAIL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7490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Final report lists files changed, remaining problems (app, file, endpoint, reason), and honest PASS/FAIL results.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cident Agent">
  <a:themeElements>
    <a:clrScheme name="Incident Agent">
      <a:dk1>
        <a:srgbClr val="1B2430"/>
      </a:dk1>
      <a:lt1>
        <a:srgbClr val="FFFFFF"/>
      </a:lt1>
      <a:dk2>
        <a:srgbClr val="0B2545"/>
      </a:dk2>
      <a:lt2>
        <a:srgbClr val="F1F5F9"/>
      </a:lt2>
      <a:accent1>
        <a:srgbClr val="0F9D8A"/>
      </a:accent1>
      <a:accent2>
        <a:srgbClr val="2563EB"/>
      </a:accent2>
      <a:accent3>
        <a:srgbClr val="F59E0B"/>
      </a:accent3>
      <a:accent4>
        <a:srgbClr val="DC2626"/>
      </a:accent4>
      <a:accent5>
        <a:srgbClr val="7C3AED"/>
      </a:accent5>
      <a:accent6>
        <a:srgbClr val="64748B"/>
      </a:accent6>
      <a:hlink>
        <a:srgbClr val="2563EB"/>
      </a:hlink>
      <a:folHlink>
        <a:srgbClr val="7C3AED"/>
      </a:folHlink>
    </a:clrScheme>
    <a:fontScheme name="Incident Agen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Post-Deployment Incident &amp; Remediation Agent</dc:title>
  <dc:subject>PptxGenJS Presentation</dc:subject>
  <dc:creator>PptxGenJS</dc:creator>
  <cp:lastModifiedBy>PptxGenJS</cp:lastModifiedBy>
  <cp:revision>1</cp:revision>
  <dcterms:created xsi:type="dcterms:W3CDTF">2026-10-05T05:51:32Z</dcterms:created>
  <dcterms:modified xsi:type="dcterms:W3CDTF">2026-10-05T05:51:32Z</dcterms:modified>
</cp:coreProperties>
</file>