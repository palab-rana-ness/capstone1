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59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" id="{7A5BF90F-434D-2A6D-D73F-2CA002EA9141}">
          <p14:sldIdLst>
            <p14:sldId id="256"/>
            <p14:sldId id="257"/>
            <p14:sldId id="260"/>
            <p14:sldId id="258"/>
          </p14:sldIdLst>
        </p14:section>
        <p14:section name="Architecture" id="{DB7260BA-3A65-3B6F-0126-E0ACEEAB9121}">
          <p14:sldIdLst>
            <p14:sldId id="261"/>
            <p14:sldId id="262"/>
            <p14:sldId id="263"/>
            <p14:sldId id="264"/>
          </p14:sldIdLst>
        </p14:section>
        <p14:section name="Agents" id="{7CD946DB-A8BF-AA31-3D92-610F7453DCB1}">
          <p14:sldIdLst>
            <p14:sldId id="265"/>
            <p14:sldId id="259"/>
            <p14:sldId id="266"/>
            <p14:sldId id="267"/>
            <p14:sldId id="268"/>
          </p14:sldIdLst>
        </p14:section>
        <p14:section name="Operations" id="{E3F2633E-B6A4-BEE1-C5BA-27D68D7D872C}">
          <p14:sldIdLst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4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26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Sentinel automates detection, root-cause diagnosis and remediation planning for data pipeline failures, with a human approving before anything executes.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 in terms of cost and people before introducing the agents.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numbered arrows 1 to 8. Three services: DataPipeline :8001, capstone-ui (Reflex :3000, FastAPI :8003), AiDiagnosis :8000.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of manual triage maps to an agent. Humans stay in control at the approval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collects data from several retail systems and produces one clean, business-ready dataset for pricing and promotion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Bronze keeps the raw data, Silver is validated and cleaned by PySpark, Gold joins the datasets and applies business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pricing for a Samsung TV, product P101.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clean datasets become one business-ready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operator-facing side: the Reflex dashboard, the FastAPI orchestrator that hosts the Pipeline Agent, and PostgreSQL where incidents and run state are stored.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Agents 2 and 3 live in one LangGraph graph behind one endpoint; the pipeline agent is plain asyncio.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agents share one compiled StateGraph. Diagnosis agent: fetch_logs to diagnose_failure. Remediation agent: generate_remediation and validate_remediation. The human gate sits after the graph, in capstone-ui.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 LLM calls are diagnose_failure and generate_remediation; everything else is deterministic.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Approval is the single gate. Today it records the decision only; no execution agent exists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layers: New Relic for pipeline telemetry, LangSmith for agent traces, PostgreSQL for the audit trail. The screenshot shows live traces in the capstone_app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incident is scoped by tenant_id across all three services.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tenant_002 because it is seeded to fail in the Silver stage.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2179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017520"/>
            <a:ext cx="60350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4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Sentinel · Autonomous Data Pipeline Incident Management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554480"/>
            <a:ext cx="6217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6000" b="1" dirty="0">
                <a:solidFill>
                  <a:schemeClr val="tx2"/>
                </a:solidFill>
              </a:rPr>
              <a:t>Sentinel</a:t>
            </a:r>
            <a:endParaRPr lang="en-US" sz="60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640080" y="30175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chemeClr val="tx1"/>
                </a:solidFill>
              </a:rPr>
              <a:t>Autonomous Data Pipeline Incident Management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A multi-agent system that detects a pipeline failure, finds the root cause, plans a fix, and waits for a human to approve it.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669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FastAPI · LangGraph · LangChain (Groq) · ChromaDB · Reflex · PostgreSQL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7498080" y="109728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17536" y="1271016"/>
            <a:ext cx="566928" cy="566928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268" y="1412748"/>
            <a:ext cx="283464" cy="2834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458200" y="12344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Pipeline Agent spots the failed run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601200" y="2011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7498080" y="237744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717536" y="255117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Fa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268" y="2692908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458200" y="25146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Diagnose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Diagnosis Agent finds the root cause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9601200" y="329184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7498080" y="365760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717536" y="3831336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Image 2" descr="Fa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59268" y="3973068"/>
            <a:ext cx="283464" cy="2834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458200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Remediation Agent proposes a fix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9601200" y="457200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7498080" y="4937760"/>
            <a:ext cx="4206240" cy="91440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17536" y="5111496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Image 3" descr="FaUse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9268" y="5253228"/>
            <a:ext cx="283464" cy="2834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8458200" y="50749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6"/>
                </a:solidFill>
              </a:rPr>
              <a:t>A human approves or rejects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Pipeline failures are found late and fixed by hand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1274552" cy="1234440"/>
          </a:xfrm>
          <a:prstGeom prst="roundRect">
            <a:avLst>
              <a:gd name="adj" fmla="val 7407"/>
            </a:avLst>
          </a:prstGeom>
          <a:solidFill>
            <a:schemeClr val="accent5">
              <a:alpha val="10000"/>
            </a:schemeClr>
          </a:solidFill>
          <a:ln/>
        </p:spPr>
      </p:sp>
      <p:sp>
        <p:nvSpPr>
          <p:cNvPr id="5" name="Shape 2"/>
          <p:cNvSpPr/>
          <p:nvPr/>
        </p:nvSpPr>
        <p:spPr>
          <a:xfrm>
            <a:off x="731520" y="15316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Image 0" descr="FaExclamationTriang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145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137160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Problem statement</a:t>
            </a:r>
            <a:endParaRPr lang="en-US" sz="14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Retail data pipelines (Bronze → Silver → Gold) fail silently or need manual triage. Engineers check logs, guess a root cause, decide on a fix and run it by hand. That is slow, costly, and dependent on a few people.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2743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Today: manual triage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1  </a:t>
            </a:r>
            <a:r>
              <a:rPr lang="en-US" sz="1400" b="1" dirty="0">
                <a:solidFill>
                  <a:schemeClr val="tx1"/>
                </a:solidFill>
              </a:rPr>
              <a:t>Notice the failure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2944368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Text 7"/>
          <p:cNvSpPr txBox="1"/>
          <p:nvPr/>
        </p:nvSpPr>
        <p:spPr>
          <a:xfrm>
            <a:off x="3392424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2  </a:t>
            </a:r>
            <a:r>
              <a:rPr lang="en-US" sz="1400" b="1" dirty="0">
                <a:solidFill>
                  <a:schemeClr val="tx1"/>
                </a:solidFill>
              </a:rPr>
              <a:t>Read the logs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879592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3" name="Text 9"/>
          <p:cNvSpPr txBox="1"/>
          <p:nvPr/>
        </p:nvSpPr>
        <p:spPr>
          <a:xfrm>
            <a:off x="6327648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3  </a:t>
            </a:r>
            <a:r>
              <a:rPr lang="en-US" sz="1400" b="1" dirty="0">
                <a:solidFill>
                  <a:schemeClr val="tx1"/>
                </a:solidFill>
              </a:rPr>
              <a:t>Guess the root cause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814816" y="3406140"/>
            <a:ext cx="42976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5" name="Text 11"/>
          <p:cNvSpPr txBox="1"/>
          <p:nvPr/>
        </p:nvSpPr>
        <p:spPr>
          <a:xfrm>
            <a:off x="9262872" y="3108960"/>
            <a:ext cx="246888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5"/>
                </a:solidFill>
              </a:rPr>
              <a:t>4  </a:t>
            </a:r>
            <a:r>
              <a:rPr lang="en-US" sz="1400" b="1" dirty="0">
                <a:solidFill>
                  <a:schemeClr val="tx1"/>
                </a:solidFill>
              </a:rPr>
              <a:t>Decide and run a fix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85800" y="429768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Image 1" descr="FaCoi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17320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Cost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Downtime while engineers investigate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Stale or bad data reaches Gold reports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failure restarts triage from zero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4279392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2" name="Shape 17"/>
          <p:cNvSpPr/>
          <p:nvPr/>
        </p:nvSpPr>
        <p:spPr>
          <a:xfrm>
            <a:off x="4507992" y="4297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2" descr="FaUser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152" y="443484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239512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People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4553712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On-call engineers pulled off planned work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 reading and guesswork eat engineer time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Fixes depend on who remembers the last one</a:t>
            </a:r>
            <a:endParaRPr lang="en-US" sz="1400" dirty="0"/>
          </a:p>
        </p:txBody>
      </p:sp>
      <p:sp>
        <p:nvSpPr>
          <p:cNvPr id="26" name="card"/>
          <p:cNvSpPr/>
          <p:nvPr/>
        </p:nvSpPr>
        <p:spPr>
          <a:xfrm>
            <a:off x="8101584" y="4023360"/>
            <a:ext cx="3630168" cy="2240280"/>
          </a:xfrm>
          <a:prstGeom prst="roundRect">
            <a:avLst>
              <a:gd name="adj" fmla="val 4082"/>
            </a:avLst>
          </a:prstGeom>
          <a:solidFill>
            <a:schemeClr val="bg2"/>
          </a:solidFill>
          <a:ln/>
        </p:spPr>
      </p:sp>
      <p:sp>
        <p:nvSpPr>
          <p:cNvPr id="27" name="Shape 21"/>
          <p:cNvSpPr/>
          <p:nvPr/>
        </p:nvSpPr>
        <p:spPr>
          <a:xfrm>
            <a:off x="8330184" y="42976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8" name="Image 3" descr="FaShieldAl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7344" y="44348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061704" y="4297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Risk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8375904" y="4983480"/>
            <a:ext cx="3154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Silent failures go unnoticed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rushed manual fix can make things worse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 consistent record of what was done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End-to-end flow: UI, pipeline and agents</a:t>
            </a:r>
            <a:endParaRPr lang="en-US" sz="3200" dirty="0"/>
          </a:p>
        </p:txBody>
      </p:sp>
      <p:sp>
        <p:nvSpPr>
          <p:cNvPr id="4" name="service DataPipeline"/>
          <p:cNvSpPr/>
          <p:nvPr/>
        </p:nvSpPr>
        <p:spPr>
          <a:xfrm>
            <a:off x="4572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DataPipeline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:8001</a:t>
            </a:r>
            <a:endParaRPr lang="en-US" sz="1400" dirty="0"/>
          </a:p>
        </p:txBody>
      </p:sp>
      <p:sp>
        <p:nvSpPr>
          <p:cNvPr id="6" name="service capstone-ui"/>
          <p:cNvSpPr/>
          <p:nvPr/>
        </p:nvSpPr>
        <p:spPr>
          <a:xfrm>
            <a:off x="32004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33375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capstone-ui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Reflex :3000 · FastAPI :8003</a:t>
            </a:r>
            <a:endParaRPr lang="en-US" sz="1400" dirty="0"/>
          </a:p>
        </p:txBody>
      </p:sp>
      <p:sp>
        <p:nvSpPr>
          <p:cNvPr id="8" name="service AiDiagnosis"/>
          <p:cNvSpPr/>
          <p:nvPr/>
        </p:nvSpPr>
        <p:spPr>
          <a:xfrm>
            <a:off x="5943600" y="1280160"/>
            <a:ext cx="2286000" cy="425196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80760" y="13441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3"/>
                </a:solidFill>
              </a:rPr>
              <a:t>AiDiagnosis</a:t>
            </a:r>
            <a:endParaRPr lang="en-US" sz="14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FastAPI :8000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FastAPI mock retail API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/products /sales /inventory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Spark pipeline runner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/api/v1/pipeline/run · /status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S3 Data Lake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Bronze · Silver · Gold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3375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Reflex Dashboard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operator UI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33375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FastAPI orchestrator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Pipeline Agent · /incidents /pipeline /tenants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3375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PostgreSQL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incidents + payloads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080760" y="187452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Chroma vector memory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per-tenant incident history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080760" y="3200400"/>
            <a:ext cx="201168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LangGraph workflow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diagnose → remediate → validate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80760" y="4663440"/>
            <a:ext cx="201168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New Relic log fetch</a:t>
            </a:r>
            <a:endParaRPr lang="en-US" sz="1200" dirty="0"/>
          </a:p>
          <a:p>
            <a:pPr marL="0" indent="0" algn="ctr">
              <a:buNone/>
            </a:pPr>
            <a:r>
              <a:rPr lang="en-US" sz="1050" dirty="0">
                <a:solidFill>
                  <a:schemeClr val="accent6"/>
                </a:solidFill>
              </a:rPr>
              <a:t>NRQL by pipeline_id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760720"/>
            <a:ext cx="777240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4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New Relic (observability)  </a:t>
            </a:r>
            <a:r>
              <a:rPr lang="en-US" sz="1300" dirty="0">
                <a:solidFill>
                  <a:schemeClr val="accent6"/>
                </a:solidFill>
              </a:rPr>
              <a:t>pipeline telemetry and logs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60020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160020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393192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52628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4" name="Shape 21"/>
          <p:cNvSpPr/>
          <p:nvPr/>
        </p:nvSpPr>
        <p:spPr>
          <a:xfrm>
            <a:off x="420624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2606040" y="374904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2606040" y="4114800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71800" y="4114800"/>
            <a:ext cx="0" cy="16459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5349240" y="342900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5349240" y="3840480"/>
            <a:ext cx="73152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30" name="Shape 27"/>
          <p:cNvSpPr/>
          <p:nvPr/>
        </p:nvSpPr>
        <p:spPr>
          <a:xfrm>
            <a:off x="5715000" y="4224528"/>
            <a:ext cx="0" cy="153619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349240" y="4224528"/>
            <a:ext cx="365760" cy="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headEnd type="triangle"/>
          </a:ln>
        </p:spPr>
      </p:sp>
      <p:sp>
        <p:nvSpPr>
          <p:cNvPr id="32" name="Shape 29"/>
          <p:cNvSpPr/>
          <p:nvPr/>
        </p:nvSpPr>
        <p:spPr>
          <a:xfrm>
            <a:off x="7086600" y="2651760"/>
            <a:ext cx="0" cy="54864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086600" y="429768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>
            <a:off x="7086600" y="5394960"/>
            <a:ext cx="0" cy="36576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5" name="Text 32"/>
          <p:cNvSpPr txBox="1"/>
          <p:nvPr/>
        </p:nvSpPr>
        <p:spPr>
          <a:xfrm>
            <a:off x="3794760" y="2788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2834640" y="36118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2834640" y="48006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577840" y="4800600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5577840" y="32918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40" name="Text 37"/>
          <p:cNvSpPr txBox="1"/>
          <p:nvPr/>
        </p:nvSpPr>
        <p:spPr>
          <a:xfrm>
            <a:off x="6080760" y="30632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577840" y="37033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3200400" y="173736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43" name="legend"/>
          <p:cNvSpPr/>
          <p:nvPr/>
        </p:nvSpPr>
        <p:spPr>
          <a:xfrm>
            <a:off x="8549640" y="1280160"/>
            <a:ext cx="3182112" cy="5029200"/>
          </a:xfrm>
          <a:prstGeom prst="roundRect">
            <a:avLst>
              <a:gd name="adj" fmla="val 2874"/>
            </a:avLst>
          </a:prstGeom>
          <a:solidFill>
            <a:schemeClr val="bg1"/>
          </a:solidFill>
          <a:ln w="15875">
            <a:solidFill>
              <a:schemeClr val="bg2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732520" y="1371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Flow, step by step</a:t>
            </a:r>
            <a:endParaRPr lang="en-US" sz="1500" dirty="0"/>
          </a:p>
        </p:txBody>
      </p:sp>
      <p:sp>
        <p:nvSpPr>
          <p:cNvPr id="45" name="Text 42"/>
          <p:cNvSpPr txBox="1"/>
          <p:nvPr/>
        </p:nvSpPr>
        <p:spPr>
          <a:xfrm>
            <a:off x="8714232" y="18013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9098280" y="17830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Operator runs the pipeline for a tenant from the Reflex dashboard.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8714232" y="23500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9098280" y="23317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Orchestrator calls POST /pipeline/run with X-Tenant-ID, then polls /status.</a:t>
            </a:r>
            <a:endParaRPr lang="en-US" sz="1150" dirty="0"/>
          </a:p>
        </p:txBody>
      </p:sp>
      <p:sp>
        <p:nvSpPr>
          <p:cNvPr id="49" name="Text 46"/>
          <p:cNvSpPr txBox="1"/>
          <p:nvPr/>
        </p:nvSpPr>
        <p:spPr>
          <a:xfrm>
            <a:off x="8714232" y="289864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098280" y="28803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Spark job runs Bronze → Silver → Gold into S3 and sends telemetry to New Relic.</a:t>
            </a:r>
            <a:endParaRPr lang="en-US" sz="1150" dirty="0"/>
          </a:p>
        </p:txBody>
      </p:sp>
      <p:sp>
        <p:nvSpPr>
          <p:cNvPr id="51" name="Text 48"/>
          <p:cNvSpPr txBox="1"/>
          <p:nvPr/>
        </p:nvSpPr>
        <p:spPr>
          <a:xfrm>
            <a:off x="8714232" y="3447288"/>
            <a:ext cx="274320" cy="2743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9098280" y="342900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A failure (poll result or New Relic alert) reaches the orchestrator.</a:t>
            </a:r>
            <a:endParaRPr lang="en-US" sz="1150" dirty="0"/>
          </a:p>
        </p:txBody>
      </p:sp>
      <p:sp>
        <p:nvSpPr>
          <p:cNvPr id="53" name="Text 50"/>
          <p:cNvSpPr txBox="1"/>
          <p:nvPr/>
        </p:nvSpPr>
        <p:spPr>
          <a:xfrm>
            <a:off x="8714232" y="399592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9098280" y="397764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Incident is saved in PostgreSQL; POST /ai-diagnosis goes to the AI service.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8714232" y="454456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</a:t>
            </a:r>
            <a:endParaRPr lang="en-US" sz="1100" dirty="0"/>
          </a:p>
        </p:txBody>
      </p:sp>
      <p:sp>
        <p:nvSpPr>
          <p:cNvPr id="56" name="Text 53"/>
          <p:cNvSpPr txBox="1"/>
          <p:nvPr/>
        </p:nvSpPr>
        <p:spPr>
          <a:xfrm>
            <a:off x="9098280" y="452628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LangGraph reads logs, recalls Chroma history, diagnoses, remediates, validates.</a:t>
            </a:r>
            <a:endParaRPr lang="en-US" sz="1150" dirty="0"/>
          </a:p>
        </p:txBody>
      </p:sp>
      <p:sp>
        <p:nvSpPr>
          <p:cNvPr id="57" name="Text 54"/>
          <p:cNvSpPr txBox="1"/>
          <p:nvPr/>
        </p:nvSpPr>
        <p:spPr>
          <a:xfrm>
            <a:off x="8714232" y="5093208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9098280" y="507492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DiagnosisResponse returns: root cause, remediation plan, confidence.</a:t>
            </a:r>
            <a:endParaRPr lang="en-US" sz="1150" dirty="0"/>
          </a:p>
        </p:txBody>
      </p:sp>
      <p:sp>
        <p:nvSpPr>
          <p:cNvPr id="59" name="Text 56"/>
          <p:cNvSpPr txBox="1"/>
          <p:nvPr/>
        </p:nvSpPr>
        <p:spPr>
          <a:xfrm>
            <a:off x="8714232" y="5641848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9098280" y="5623560"/>
            <a:ext cx="2514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tx1"/>
                </a:solidFill>
              </a:rPr>
              <a:t>Operator approves or rejects; the decision is recorded.</a:t>
            </a:r>
            <a:endParaRPr lang="en-US" sz="11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How agents cut cost and people effort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26974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Today (manual)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995160" y="12801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With Sentinel agents</a:t>
            </a:r>
            <a:endParaRPr lang="en-US" sz="1400" dirty="0"/>
          </a:p>
        </p:txBody>
      </p:sp>
      <p:sp>
        <p:nvSpPr>
          <p:cNvPr id="6" name="card"/>
          <p:cNvSpPr/>
          <p:nvPr/>
        </p:nvSpPr>
        <p:spPr>
          <a:xfrm>
            <a:off x="457200" y="169164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8368" y="1847088"/>
            <a:ext cx="420624" cy="420624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95224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16916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Detect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2697480" y="169164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Someone notices a failed run or an alert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205740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6903720" y="169164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7040880" y="16916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Pipeline Agent polls the run and raises an incident when it fails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57200" y="256032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2715768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1" descr="Fa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" y="282092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88720" y="25603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Diagnose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2697480" y="256032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 engineer reads logs and guesses the cause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292608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"/>
          <p:cNvSpPr/>
          <p:nvPr/>
        </p:nvSpPr>
        <p:spPr>
          <a:xfrm>
            <a:off x="6903720" y="256032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7040880" y="25603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Diagnosis Agent reads New Relic logs and similar past incidents, then names the root cause</a:t>
            </a:r>
            <a:endParaRPr lang="en-US" sz="1400" dirty="0"/>
          </a:p>
        </p:txBody>
      </p:sp>
      <p:sp>
        <p:nvSpPr>
          <p:cNvPr id="22" name="card"/>
          <p:cNvSpPr/>
          <p:nvPr/>
        </p:nvSpPr>
        <p:spPr>
          <a:xfrm>
            <a:off x="457200" y="342900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58368" y="3584448"/>
            <a:ext cx="420624" cy="420624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4" name="Image 2" descr="Fa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3689604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34290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 the fix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2697480" y="342900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The fix is chosen ad hoc from memory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6263640" y="379476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6903720" y="342900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040880" y="34290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Remediation Agent proposes actions only from a pre-approved list</a:t>
            </a:r>
            <a:endParaRPr lang="en-US" sz="1400" dirty="0"/>
          </a:p>
        </p:txBody>
      </p:sp>
      <p:sp>
        <p:nvSpPr>
          <p:cNvPr id="30" name="card"/>
          <p:cNvSpPr/>
          <p:nvPr/>
        </p:nvSpPr>
        <p:spPr>
          <a:xfrm>
            <a:off x="457200" y="4297680"/>
            <a:ext cx="2057400" cy="731520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58368" y="4453128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2" name="Image 3" descr="FaUse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4558284"/>
            <a:ext cx="210312" cy="21031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1188720" y="42976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Approve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2697480" y="4297680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Whoever is on call decides and acts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6263640" y="4663440"/>
            <a:ext cx="45720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6" name="card"/>
          <p:cNvSpPr/>
          <p:nvPr/>
        </p:nvSpPr>
        <p:spPr>
          <a:xfrm>
            <a:off x="6903720" y="4297680"/>
            <a:ext cx="4828032" cy="731520"/>
          </a:xfrm>
          <a:prstGeom prst="roundRect">
            <a:avLst>
              <a:gd name="adj" fmla="val 1250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7" name="Text 30"/>
          <p:cNvSpPr txBox="1"/>
          <p:nvPr/>
        </p:nvSpPr>
        <p:spPr>
          <a:xfrm>
            <a:off x="7040880" y="4297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 human reviews the plan and approves or rejects it</a:t>
            </a:r>
            <a:endParaRPr lang="en-US" sz="1400" dirty="0"/>
          </a:p>
        </p:txBody>
      </p:sp>
      <p:sp>
        <p:nvSpPr>
          <p:cNvPr id="38" name="card"/>
          <p:cNvSpPr/>
          <p:nvPr/>
        </p:nvSpPr>
        <p:spPr>
          <a:xfrm>
            <a:off x="457200" y="5349240"/>
            <a:ext cx="5550408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640080" y="5394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Cost  </a:t>
            </a:r>
            <a:r>
              <a:rPr lang="en-US" sz="1400" dirty="0">
                <a:solidFill>
                  <a:schemeClr val="tx1"/>
                </a:solidFill>
              </a:rPr>
              <a:t>Diagnosis starts the moment a run fails, so there is less downtime and fewer wasted engineer-hours.</a:t>
            </a:r>
            <a:endParaRPr lang="en-US" sz="1400" dirty="0"/>
          </a:p>
        </p:txBody>
      </p:sp>
      <p:sp>
        <p:nvSpPr>
          <p:cNvPr id="40" name="card"/>
          <p:cNvSpPr/>
          <p:nvPr/>
        </p:nvSpPr>
        <p:spPr>
          <a:xfrm>
            <a:off x="6181344" y="5349240"/>
            <a:ext cx="5550408" cy="960120"/>
          </a:xfrm>
          <a:prstGeom prst="roundRect">
            <a:avLst>
              <a:gd name="adj" fmla="val 9524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6364224" y="5394960"/>
            <a:ext cx="5212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People  </a:t>
            </a:r>
            <a:r>
              <a:rPr lang="en-US" sz="1400" dirty="0">
                <a:solidFill>
                  <a:schemeClr val="tx1"/>
                </a:solidFill>
              </a:rPr>
              <a:t>Engineers review a ready plan instead of investigating from scratch, and past incidents are remembered.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Retail Multi Tenant data pipeline: why we need it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11274552" cy="1005840"/>
          </a:xfrm>
          <a:prstGeom prst="roundRect">
            <a:avLst>
              <a:gd name="adj" fmla="val 9091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85800" y="1325880"/>
            <a:ext cx="10835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Objective  </a:t>
            </a:r>
            <a:r>
              <a:rPr lang="en-US" sz="1600" dirty="0">
                <a:solidFill>
                  <a:schemeClr val="tx1"/>
                </a:solidFill>
              </a:rPr>
              <a:t>Build a reliable pipeline that collects data from multiple retail systems and produces a clean, business-ready dataset for pricing and promotion decisions.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457200" y="2514600"/>
            <a:ext cx="555040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617220" y="2674620"/>
            <a:ext cx="502920" cy="50292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8" name="Image 0" descr="FaDatabas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280035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 sources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383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 Database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Database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System / 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Promotion System / 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Supplier API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181344" y="2514600"/>
            <a:ext cx="5550408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2" name="Shape 8"/>
          <p:cNvSpPr/>
          <p:nvPr/>
        </p:nvSpPr>
        <p:spPr>
          <a:xfrm>
            <a:off x="6341364" y="26746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1" descr="FaCheckCircl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094" y="280035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04304" y="26974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Business output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6455664" y="33832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Pricing-ready dataset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Promotion information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Inventory availability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Sales insights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57200" y="5120640"/>
            <a:ext cx="11274552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685800" y="5166360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Key challenge  </a:t>
            </a:r>
            <a:r>
              <a:rPr lang="en-US" sz="1500" dirty="0">
                <a:solidFill>
                  <a:schemeClr val="tx1"/>
                </a:solidFill>
              </a:rPr>
              <a:t>Data comes from different systems and can fail or contain invalid, inconsistent records.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Three tenants: </a:t>
            </a:r>
            <a:r>
              <a:rPr lang="en-US" sz="1300" dirty="0">
                <a:solidFill>
                  <a:schemeClr val="tx1"/>
                </a:solidFill>
              </a:rPr>
              <a:t>tenant_001 RetailMart India, tenant_002 SuperStore India (seeded with ~20% invalid records, so Silver-stage failures are reproducible), tenant_003 QuickBuy India.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End-to-end architecture: Bronze → Silver → Gold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tx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Retail Sources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2029968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6" name="card"/>
          <p:cNvSpPr/>
          <p:nvPr/>
        </p:nvSpPr>
        <p:spPr>
          <a:xfrm>
            <a:off x="457200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Product, Sales, Inventory, Promotion and Supplier systems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2401214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Ingestion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973982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2401214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492654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Collects data and adds tenant_id, run_id and ingestion timestamp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4345229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Bronze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17997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4345229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436669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Stores source data in its raw form, unchanged</a:t>
            </a:r>
            <a:endParaRPr lang="en-US" sz="1450" dirty="0"/>
          </a:p>
        </p:txBody>
      </p:sp>
      <p:sp>
        <p:nvSpPr>
          <p:cNvPr id="16" name="Text 13"/>
          <p:cNvSpPr txBox="1"/>
          <p:nvPr/>
        </p:nvSpPr>
        <p:spPr>
          <a:xfrm>
            <a:off x="6289243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6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Silver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7862011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6289243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380683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PySpark: validate, clean, standardize and deduplicate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8233258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Gold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806026" y="180594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8233258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324698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PySpark: join datasets and apply business rules</a:t>
            </a:r>
            <a:endParaRPr lang="en-US" sz="1450" dirty="0"/>
          </a:p>
        </p:txBody>
      </p:sp>
      <p:sp>
        <p:nvSpPr>
          <p:cNvPr id="24" name="Text 21"/>
          <p:cNvSpPr txBox="1"/>
          <p:nvPr/>
        </p:nvSpPr>
        <p:spPr>
          <a:xfrm>
            <a:off x="10177272" y="1371600"/>
            <a:ext cx="155448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Consumption</a:t>
            </a:r>
            <a:endParaRPr lang="en-US" sz="1500" dirty="0"/>
          </a:p>
        </p:txBody>
      </p:sp>
      <p:sp>
        <p:nvSpPr>
          <p:cNvPr id="25" name="card"/>
          <p:cNvSpPr/>
          <p:nvPr/>
        </p:nvSpPr>
        <p:spPr>
          <a:xfrm>
            <a:off x="10177272" y="2423160"/>
            <a:ext cx="1554480" cy="17830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10268712" y="2542032"/>
            <a:ext cx="1371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dirty="0">
                <a:solidFill>
                  <a:schemeClr val="tx1"/>
                </a:solidFill>
              </a:rPr>
              <a:t>Pricing, analytics and dashboards</a:t>
            </a:r>
            <a:endParaRPr lang="en-US" sz="1450" dirty="0"/>
          </a:p>
        </p:txBody>
      </p:sp>
      <p:sp>
        <p:nvSpPr>
          <p:cNvPr id="27" name="card"/>
          <p:cNvSpPr/>
          <p:nvPr/>
        </p:nvSpPr>
        <p:spPr>
          <a:xfrm>
            <a:off x="457200" y="4480560"/>
            <a:ext cx="11274552" cy="868680"/>
          </a:xfrm>
          <a:prstGeom prst="roundRect">
            <a:avLst>
              <a:gd name="adj" fmla="val 1052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57200" y="4480560"/>
            <a:ext cx="11274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accent2"/>
                </a:solidFill>
              </a:rPr>
              <a:t>Bronze</a:t>
            </a:r>
            <a:r>
              <a:rPr lang="en-US" sz="2200" dirty="0">
                <a:solidFill>
                  <a:schemeClr val="tx1"/>
                </a:solidFill>
              </a:rPr>
              <a:t> = raw      </a:t>
            </a:r>
            <a:r>
              <a:rPr lang="en-US" sz="2200" b="1" dirty="0">
                <a:solidFill>
                  <a:schemeClr val="accent6"/>
                </a:solidFill>
              </a:rPr>
              <a:t>Silver</a:t>
            </a:r>
            <a:r>
              <a:rPr lang="en-US" sz="2200" dirty="0">
                <a:solidFill>
                  <a:schemeClr val="tx1"/>
                </a:solidFill>
              </a:rPr>
              <a:t> = trusted      </a:t>
            </a:r>
            <a:r>
              <a:rPr lang="en-US" sz="2200" b="1" dirty="0">
                <a:solidFill>
                  <a:schemeClr val="accent4"/>
                </a:solidFill>
              </a:rPr>
              <a:t>Gold</a:t>
            </a:r>
            <a:r>
              <a:rPr lang="en-US" sz="2200" dirty="0">
                <a:solidFill>
                  <a:schemeClr val="tx1"/>
                </a:solidFill>
              </a:rPr>
              <a:t> = business-ready</a:t>
            </a:r>
            <a:endParaRPr lang="en-US" sz="2200" dirty="0"/>
          </a:p>
        </p:txBody>
      </p:sp>
      <p:sp>
        <p:nvSpPr>
          <p:cNvPr id="29" name="card"/>
          <p:cNvSpPr/>
          <p:nvPr/>
        </p:nvSpPr>
        <p:spPr>
          <a:xfrm>
            <a:off x="457200" y="5532120"/>
            <a:ext cx="11274552" cy="777240"/>
          </a:xfrm>
          <a:prstGeom prst="roundRect">
            <a:avLst>
              <a:gd name="adj" fmla="val 11765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85800" y="5532120"/>
            <a:ext cx="10835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Output lands in the S3 data lake. Every stage sends telemetry to New Relic tagged PIPELINE_ID=retail_data_pipeline, the evidence the Diagnosis Agent queries later.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Raw data → Bronze → Validation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789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Scenario: retail pricing for Samsung TV (P101)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PRODUCT DB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name: Samsung TV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base_price: 50000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category: Electronics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331159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68319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SALES DB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468319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transaction_id: T9001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quantity: 8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selling_price: 50000</a:t>
            </a:r>
            <a:endParaRPr lang="en-US" sz="1300" dirty="0"/>
          </a:p>
        </p:txBody>
      </p:sp>
      <p:sp>
        <p:nvSpPr>
          <p:cNvPr id="11" name="card"/>
          <p:cNvSpPr/>
          <p:nvPr/>
        </p:nvSpPr>
        <p:spPr>
          <a:xfrm>
            <a:off x="6205118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42278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INVENTORY DB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342278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warehouse_id: WH01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stock: 25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9079078" y="1508760"/>
            <a:ext cx="2651760" cy="137160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216238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PROMOTION DB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9216238" y="187452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promotion_id: PR20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discount: 10%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active: YES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99048" y="288036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457200" y="3154680"/>
            <a:ext cx="11274552" cy="1188720"/>
          </a:xfrm>
          <a:prstGeom prst="roundRect">
            <a:avLst>
              <a:gd name="adj" fmla="val 7692"/>
            </a:avLst>
          </a:prstGeom>
          <a:solidFill>
            <a:schemeClr val="accent2">
              <a:alpha val="10000"/>
            </a:schemeClr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0080" y="3200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BRONZE · raw, as received (+ tenant_id, run_id, ingestion_timestamp)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Product: P101, Samsung TV, 50000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Sales: T9001, P101, 8, 50000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35661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Inventory: P101, WH01, 25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Promotion: PR20, P101, 10%, YES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95528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Source-aligned, nothing changed yet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6099048" y="4343400"/>
            <a:ext cx="0" cy="27432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457200" y="4617720"/>
            <a:ext cx="11274552" cy="1691640"/>
          </a:xfrm>
          <a:prstGeom prst="roundRect">
            <a:avLst>
              <a:gd name="adj" fmla="val 5405"/>
            </a:avLst>
          </a:prstGeom>
          <a:solidFill>
            <a:schemeClr val="accent1">
              <a:alpha val="10000"/>
            </a:schemeClr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" y="466344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PYSPARK · validation and cleaning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5029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product_id present; IDs match across datasets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Price numeric, quantity valid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Discount between 0 and 100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263640" y="502920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Duplicate transactions removed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Dates valid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Types converted, values standardized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Silver → Transformation → Gold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78992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Four clean datasets become one business-ready record</a:t>
            </a:r>
            <a:endParaRPr lang="en-US" sz="1400" dirty="0"/>
          </a:p>
        </p:txBody>
      </p:sp>
      <p:sp>
        <p:nvSpPr>
          <p:cNvPr id="5" name="card"/>
          <p:cNvSpPr/>
          <p:nvPr/>
        </p:nvSpPr>
        <p:spPr>
          <a:xfrm>
            <a:off x="457200" y="1508760"/>
            <a:ext cx="2606040" cy="342900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6002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SILVER · clean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081528" y="3200400"/>
            <a:ext cx="24688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8" name="card"/>
          <p:cNvSpPr/>
          <p:nvPr/>
        </p:nvSpPr>
        <p:spPr>
          <a:xfrm>
            <a:off x="3346704" y="1508760"/>
            <a:ext cx="2377440" cy="3429000"/>
          </a:xfrm>
          <a:prstGeom prst="roundRect">
            <a:avLst>
              <a:gd name="adj" fmla="val 384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83864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PYSPARK · transform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42432" y="3200400"/>
            <a:ext cx="24688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6007608" y="1508760"/>
            <a:ext cx="3200400" cy="342900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144768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GOLD · business-ready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226296" y="3200400"/>
            <a:ext cx="24688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card"/>
          <p:cNvSpPr/>
          <p:nvPr/>
        </p:nvSpPr>
        <p:spPr>
          <a:xfrm>
            <a:off x="9491472" y="1508760"/>
            <a:ext cx="2240280" cy="3429000"/>
          </a:xfrm>
          <a:prstGeom prst="roundRect">
            <a:avLst>
              <a:gd name="adj" fmla="val 4082"/>
            </a:avLst>
          </a:prstGeom>
          <a:solidFill>
            <a:schemeClr val="bg1"/>
          </a:solidFill>
          <a:ln w="15875">
            <a:solidFill>
              <a:schemeClr val="tx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28632" y="16002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CONSUMED BY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1965960"/>
            <a:ext cx="2377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Standardized records: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Samsung TV | 50000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Sales | 8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Stock | 25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P101 | Discount | 10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483864" y="1965960"/>
            <a:ext cx="2103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Steps: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JOIN datasets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Apply business rules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Calculate metrics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Enrich data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44768" y="1965960"/>
            <a:ext cx="2926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One integrated record: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product_id: P101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product: Samsung TV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base_price: ₹50,000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discount: 10%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discount_amount: ₹5,000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4"/>
                </a:solidFill>
              </a:rPr>
              <a:t>final_price: ₹45,000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units_sold: 8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inventory: 25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promotion_active: YES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628632" y="20116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Pricing Engine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628632" y="26974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Analytics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9628632" y="33832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9628632" y="4069080"/>
            <a:ext cx="196596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ML Models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457200" y="5166360"/>
            <a:ext cx="11274552" cy="1143000"/>
          </a:xfrm>
          <a:prstGeom prst="roundRect">
            <a:avLst>
              <a:gd name="adj" fmla="val 8000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85800" y="5193792"/>
            <a:ext cx="10835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Join key: product_id = P101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Discount amount = ₹50,000 × 10% = ₹5,000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Final price = ₹50,000 − ₹5,000 = ₹45,000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UI, Reflex, PostgreSQL and Agent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3474720" cy="3794760"/>
          </a:xfrm>
          <a:prstGeom prst="roundRect">
            <a:avLst>
              <a:gd name="adj" fmla="val 263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FaPla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7373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600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Reflex dashboard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1325880" y="1984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Sentinel · operator UI · :3000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2514600"/>
            <a:ext cx="3063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Run Pipeline for a chosen tenant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Live run status as polling ticks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Pipeline Run history: root cause, logs and remedies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 &amp; Execute and Reject buttons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3959352" y="3200400"/>
            <a:ext cx="35661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4343400" y="1325880"/>
            <a:ext cx="3931920" cy="3794760"/>
          </a:xfrm>
          <a:prstGeom prst="roundRect">
            <a:avLst>
              <a:gd name="adj" fmla="val 2410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60020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3" name="Image 1" descr="FaRob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7373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2120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Orchestrator + Agent 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5212080" y="1984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FastAPI :8003 · asyncio, not LangGraph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0" y="2514600"/>
            <a:ext cx="3520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start_workflow() launches a run in DataPipeline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Polls status every N seconds and backs off on errors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 FAILED or timeout, creates incident INC‑xxxxxxxx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Calls the AI service once and stores the reply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reconcile_on_startup() resumes in-flight runs after a restart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302752" y="3200400"/>
            <a:ext cx="356616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  <a:tailEnd type="triangle"/>
          </a:ln>
        </p:spPr>
      </p:sp>
      <p:sp>
        <p:nvSpPr>
          <p:cNvPr id="18" name="card"/>
          <p:cNvSpPr/>
          <p:nvPr/>
        </p:nvSpPr>
        <p:spPr>
          <a:xfrm>
            <a:off x="8686800" y="1325880"/>
            <a:ext cx="3044952" cy="3794760"/>
          </a:xfrm>
          <a:prstGeom prst="roundRect">
            <a:avLst>
              <a:gd name="adj" fmla="val 300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869680" y="1600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Image 2" descr="Fa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6840" y="17373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555480" y="160020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PostgreSQL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9555480" y="1984248"/>
            <a:ext cx="2039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chemeClr val="accent6"/>
                </a:solidFill>
              </a:rPr>
              <a:t>incidents and run state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8915400" y="2514600"/>
            <a:ext cx="263347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IncidentDB + IncidentPayloadDB: the incident and its payload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WorkflowRunDB: poll state, attempts, deadlines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AgentEventDB: audit trail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DiagnosisDB + RemediationPlanDB: root cause, plan, approval_status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Run pipeline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2029968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6" name="Text 20"/>
          <p:cNvSpPr txBox="1"/>
          <p:nvPr/>
        </p:nvSpPr>
        <p:spPr>
          <a:xfrm>
            <a:off x="2401214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Poll status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973982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Text 22"/>
          <p:cNvSpPr txBox="1"/>
          <p:nvPr/>
        </p:nvSpPr>
        <p:spPr>
          <a:xfrm>
            <a:off x="4345229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FAILED detected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917997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0" name="Text 24"/>
          <p:cNvSpPr txBox="1"/>
          <p:nvPr/>
        </p:nvSpPr>
        <p:spPr>
          <a:xfrm>
            <a:off x="6289243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Incident saved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862011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2" name="Text 26"/>
          <p:cNvSpPr txBox="1"/>
          <p:nvPr/>
        </p:nvSpPr>
        <p:spPr>
          <a:xfrm>
            <a:off x="8233258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AI diagnosis + plan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9806026" y="5829300"/>
            <a:ext cx="369418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34" name="Text 28"/>
          <p:cNvSpPr txBox="1"/>
          <p:nvPr/>
        </p:nvSpPr>
        <p:spPr>
          <a:xfrm>
            <a:off x="10177272" y="5440680"/>
            <a:ext cx="1554480" cy="777240"/>
          </a:xfrm>
          <a:prstGeom prst="roundRect">
            <a:avLst>
              <a:gd name="adj" fmla="val 9412"/>
            </a:avLst>
          </a:prstGeom>
          <a:solidFill>
            <a:schemeClr val="accent2"/>
          </a:solidFill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AWAITING_APPROVAL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Sentinel: three agents and one human gate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6" name="Image 0" descr="FaEy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1714500"/>
            <a:ext cx="320040" cy="3200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AGENT 1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Pipeline Agent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capstone-ui · asyncio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Starts and polls pipeline runs, detects FAILED or timeout, and creates the incident.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990088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3374136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3557016" y="155448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Image 1" descr="FaSearch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7036" y="171450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334256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AGENT 2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3557016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Diagnosis (RCA) Agent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3557016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AiDiagnosis · LangGraph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3557016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Fetches logs, recalls similar incidents, and uses an LLM to find the root cause.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907024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0" name="card"/>
          <p:cNvSpPr/>
          <p:nvPr/>
        </p:nvSpPr>
        <p:spPr>
          <a:xfrm>
            <a:off x="6291072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73952" y="155448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mage 2" descr="FaTool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3972" y="171450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51192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AGENT 3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473952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Remediation Agent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6473952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AiDiagnosis · LangGraph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6473952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Proposes fix actions and validates them against the pre-approved list.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8823960" y="2990088"/>
            <a:ext cx="36576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9208008" y="1325880"/>
            <a:ext cx="2514600" cy="333756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390888" y="15544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0" name="Image 3" descr="FaUserChe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50908" y="1714500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0168128" y="1645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HUMAN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390888" y="23774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Approval</a:t>
            </a:r>
            <a:endParaRPr lang="en-US" sz="1800" dirty="0"/>
          </a:p>
        </p:txBody>
      </p:sp>
      <p:sp>
        <p:nvSpPr>
          <p:cNvPr id="33" name="Text 26"/>
          <p:cNvSpPr txBox="1"/>
          <p:nvPr/>
        </p:nvSpPr>
        <p:spPr>
          <a:xfrm>
            <a:off x="9390888" y="3017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Sentinel dashboard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9390888" y="33832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An operator reviews the plan and approves or rejects it.</a:t>
            </a:r>
            <a:endParaRPr lang="en-US" sz="1400" dirty="0"/>
          </a:p>
        </p:txBody>
      </p:sp>
      <p:sp>
        <p:nvSpPr>
          <p:cNvPr id="35" name="card"/>
          <p:cNvSpPr/>
          <p:nvPr/>
        </p:nvSpPr>
        <p:spPr>
          <a:xfrm>
            <a:off x="457200" y="4983480"/>
            <a:ext cx="5550408" cy="1280160"/>
          </a:xfrm>
          <a:prstGeom prst="roundRect">
            <a:avLst>
              <a:gd name="adj" fmla="val 714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36" name="Text 29"/>
          <p:cNvSpPr txBox="1"/>
          <p:nvPr/>
        </p:nvSpPr>
        <p:spPr>
          <a:xfrm>
            <a:off x="640080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One call to the AI service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Pipeline Agent calls POST /api/v1/incidents/ai-diagnosis once. The reply is split into DIAGNOSIS_COMPLETED and REMEDIATION_PLAN_READY events.</a:t>
            </a:r>
            <a:endParaRPr lang="en-US" sz="1400" dirty="0"/>
          </a:p>
        </p:txBody>
      </p:sp>
      <p:sp>
        <p:nvSpPr>
          <p:cNvPr id="37" name="card"/>
          <p:cNvSpPr/>
          <p:nvPr/>
        </p:nvSpPr>
        <p:spPr>
          <a:xfrm>
            <a:off x="6181344" y="4983480"/>
            <a:ext cx="5550408" cy="1280160"/>
          </a:xfrm>
          <a:prstGeom prst="roundRect">
            <a:avLst>
              <a:gd name="adj" fmla="val 7143"/>
            </a:avLst>
          </a:prstGeom>
          <a:solidFill>
            <a:schemeClr val="accent2">
              <a:alpha val="10000"/>
            </a:schemeClr>
          </a:solidFill>
          <a:ln/>
        </p:spPr>
      </p:sp>
      <p:sp>
        <p:nvSpPr>
          <p:cNvPr id="38" name="Text 31"/>
          <p:cNvSpPr txBox="1"/>
          <p:nvPr/>
        </p:nvSpPr>
        <p:spPr>
          <a:xfrm>
            <a:off x="6364224" y="507492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Nothing auto-executes today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Approval records the decision. An execution agent that acts on approved plans is the next step on the roadmap.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LangGraph: agents, nodes and the human gate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188720"/>
            <a:ext cx="11274552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/>
                </a:solidFill>
              </a:rPr>
              <a:t>One endpoint: POST /api/v1/incidents/ai-diagnosis   ·   LLM: ChatGroq (openai/gpt-oss-20b)   ·   Memory: ChromaDB   ·   Logs: New Relic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724912" y="1783080"/>
            <a:ext cx="9043416" cy="1508760"/>
          </a:xfrm>
          <a:prstGeom prst="roundRect">
            <a:avLst>
              <a:gd name="adj" fmla="val 6061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7" name="Shape 4"/>
          <p:cNvSpPr/>
          <p:nvPr/>
        </p:nvSpPr>
        <p:spPr>
          <a:xfrm>
            <a:off x="7388352" y="3657600"/>
            <a:ext cx="4379976" cy="1508760"/>
          </a:xfrm>
          <a:prstGeom prst="roundRect">
            <a:avLst>
              <a:gd name="adj" fmla="val 6061"/>
            </a:avLst>
          </a:prstGeom>
          <a:solidFill>
            <a:schemeClr val="accent3">
              <a:alpha val="10000"/>
            </a:scheme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78892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Diagnosis / RCA Agent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3703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Remediation / Planning Agent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validate_trigger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checks input, builds the incident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37744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2" name="Text 9"/>
          <p:cNvSpPr txBox="1"/>
          <p:nvPr/>
        </p:nvSpPr>
        <p:spPr>
          <a:xfrm>
            <a:off x="278892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fetch_logs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New Relic logs via NRQL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0916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12064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validate_incident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stops if there is no evidence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04088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6" name="Text 13"/>
          <p:cNvSpPr txBox="1"/>
          <p:nvPr/>
        </p:nvSpPr>
        <p:spPr>
          <a:xfrm>
            <a:off x="745236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retrieve_similar_incidents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RAG over Chroma, per tenant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372600" y="267462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18" name="Text 15"/>
          <p:cNvSpPr txBox="1"/>
          <p:nvPr/>
        </p:nvSpPr>
        <p:spPr>
          <a:xfrm>
            <a:off x="9784080" y="219456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diagnose_failure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LLM: root cause + confidence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78408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generate_remediation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LLM: proposes fix actions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37260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1" name="Text 18"/>
          <p:cNvSpPr txBox="1"/>
          <p:nvPr/>
        </p:nvSpPr>
        <p:spPr>
          <a:xfrm>
            <a:off x="745236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3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validate_remediation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guardrail: allowed actions only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04088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12064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store_incident_memory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saves incident to Chroma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70916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5" name="Text 22"/>
          <p:cNvSpPr txBox="1"/>
          <p:nvPr/>
        </p:nvSpPr>
        <p:spPr>
          <a:xfrm>
            <a:off x="278892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5875">
            <a:solidFill>
              <a:schemeClr val="accent6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build_response</a:t>
            </a:r>
            <a:endParaRPr lang="en-US" sz="12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accent6"/>
                </a:solidFill>
              </a:rPr>
              <a:t>assembles DiagnosisResponse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377440" y="4549140"/>
            <a:ext cx="411480" cy="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headEnd type="triangle"/>
          </a:ln>
        </p:spPr>
      </p:sp>
      <p:sp>
        <p:nvSpPr>
          <p:cNvPr id="27" name="Text 24"/>
          <p:cNvSpPr txBox="1"/>
          <p:nvPr/>
        </p:nvSpPr>
        <p:spPr>
          <a:xfrm>
            <a:off x="457200" y="4069080"/>
            <a:ext cx="1920240" cy="960120"/>
          </a:xfrm>
          <a:prstGeom prst="roundRect">
            <a:avLst>
              <a:gd name="adj" fmla="val 7619"/>
            </a:avLst>
          </a:prstGeom>
          <a:solidFill>
            <a:schemeClr val="accent2"/>
          </a:solidFill>
          <a:ln w="15875">
            <a:solidFill>
              <a:schemeClr val="accent2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Human approval</a:t>
            </a:r>
            <a:endParaRPr lang="en-US" sz="1300" dirty="0"/>
          </a:p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approve or reject in the UI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0744200" y="3154680"/>
            <a:ext cx="0" cy="914400"/>
          </a:xfrm>
          <a:prstGeom prst="line">
            <a:avLst/>
          </a:prstGeom>
          <a:noFill/>
          <a:ln w="22225">
            <a:solidFill>
              <a:schemeClr val="tx2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457200" y="51206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accent2"/>
                </a:solidFill>
              </a:rPr>
              <a:t>outside the graph, in capstone-ui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980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Setup and wrap-up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29184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58444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Diagnosis / RCA Agent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12648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3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641908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Remediation / Planning Agent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961120" y="5760720"/>
            <a:ext cx="201168" cy="201168"/>
          </a:xfrm>
          <a:prstGeom prst="roundRect">
            <a:avLst>
              <a:gd name="adj" fmla="val 18182"/>
            </a:avLst>
          </a:prstGeom>
          <a:solidFill>
            <a:schemeClr val="accent2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9253728" y="57150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Human approval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each LangGraph node does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4552" cy="492861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Node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Part of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it does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validate_trigger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Checks the trigger payload and builds the Incident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fetch_logs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Queries New Relic NerdGraph (NRQL, filtered by pipeline_id) for log lines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validate_incident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Fails fast (400) if New Relic returned no evidence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retrieve_similar_incidents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Tenant-scoped similarity search in ChromaDB (RAG, top-k)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diagnose_failure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Diagnosis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 call (ChatGroq, structured output): root cause, confidence, evidence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generate_remediation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Remediation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LLM call limited to the allowed fix actions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validate_remediation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</a:rPr>
                        <a:t>Remediation Agent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Rejects any action outside the allow-list; lowers confidence if no evidence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store_incident_memory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Saves the incident to Chroma for future retrieval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build_response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6"/>
                          </a:solidFill>
                        </a:rPr>
                        <a:t>Support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Assembles the final DiagnosisResponse for the UI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Human approval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accent2"/>
                          </a:solidFill>
                        </a:rPr>
                        <a:t>Human (capstone-ui)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Operator approves or rejects the plan before anything is executed</a:t>
                      </a:r>
                      <a:endParaRPr lang="en-US" sz="1300" dirty="0"/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Human approval and the audit trail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6035040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17220" y="14859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FaUser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611630"/>
            <a:ext cx="251460" cy="2514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5087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single gate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331720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118872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Plan is ready and the incident status becomes AWAITING_APPROVAL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" y="3044952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1188720" y="2907792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opens Pipeline Run history on the Sentinel dashboard: root cause, logs and proposed remedies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31520" y="3758184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1188720" y="3621024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Operator clicks Approve &amp; Execute or Reject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4471416"/>
            <a:ext cx="274320" cy="2743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1188720" y="4334256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POST /api/v1/incidents/{incident_id}/remediation/approve | reject records the decision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640080" y="5120640"/>
            <a:ext cx="5669280" cy="1005840"/>
          </a:xfrm>
          <a:prstGeom prst="roundRect">
            <a:avLst>
              <a:gd name="adj" fmla="val 9091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" y="516636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Nothing executes automatically, by design. </a:t>
            </a:r>
            <a:r>
              <a:rPr lang="en-US" sz="1400" dirty="0">
                <a:solidFill>
                  <a:schemeClr val="tx1"/>
                </a:solidFill>
              </a:rPr>
              <a:t>Approval only records the decision; an execution agent is on the roadmap.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6766560" y="1280160"/>
            <a:ext cx="4965192" cy="2926080"/>
          </a:xfrm>
          <a:prstGeom prst="roundRect">
            <a:avLst>
              <a:gd name="adj" fmla="val 3125"/>
            </a:avLst>
          </a:prstGeom>
          <a:solidFill>
            <a:schemeClr val="bg2"/>
          </a:solidFill>
          <a:ln/>
        </p:spPr>
      </p:sp>
      <p:sp>
        <p:nvSpPr>
          <p:cNvPr id="19" name="Shape 15"/>
          <p:cNvSpPr/>
          <p:nvPr/>
        </p:nvSpPr>
        <p:spPr>
          <a:xfrm>
            <a:off x="6926580" y="14859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1" descr="FaClipboardLis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2310" y="1611630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589520" y="15087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Audit trail (AgentEventDB)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6995160" y="22860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PipelineAgent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8732520" y="2286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PIPELINE_FAILED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6995160" y="27432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DiagnosisAgent</a:t>
            </a:r>
            <a:endParaRPr lang="en-US" sz="1100" dirty="0"/>
          </a:p>
        </p:txBody>
      </p:sp>
      <p:sp>
        <p:nvSpPr>
          <p:cNvPr id="25" name="Text 20"/>
          <p:cNvSpPr txBox="1"/>
          <p:nvPr/>
        </p:nvSpPr>
        <p:spPr>
          <a:xfrm>
            <a:off x="8732520" y="2743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DIAGNOSIS_COMPLETED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995160" y="32004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RemediationAgent</a:t>
            </a:r>
            <a:endParaRPr lang="en-US" sz="1100" dirty="0"/>
          </a:p>
        </p:txBody>
      </p:sp>
      <p:sp>
        <p:nvSpPr>
          <p:cNvPr id="27" name="Text 22"/>
          <p:cNvSpPr txBox="1"/>
          <p:nvPr/>
        </p:nvSpPr>
        <p:spPr>
          <a:xfrm>
            <a:off x="8732520" y="32004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REMEDIATION_PLAN_READY</a:t>
            </a:r>
            <a:endParaRPr lang="en-US" sz="1200" dirty="0"/>
          </a:p>
        </p:txBody>
      </p:sp>
      <p:sp>
        <p:nvSpPr>
          <p:cNvPr id="28" name="Text 23"/>
          <p:cNvSpPr txBox="1"/>
          <p:nvPr/>
        </p:nvSpPr>
        <p:spPr>
          <a:xfrm>
            <a:off x="6995160" y="3657600"/>
            <a:ext cx="1600200" cy="347472"/>
          </a:xfrm>
          <a:prstGeom prst="roundRect">
            <a:avLst>
              <a:gd name="adj" fmla="val 21053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Human</a:t>
            </a:r>
            <a:endParaRPr lang="en-US" sz="1100" dirty="0"/>
          </a:p>
        </p:txBody>
      </p:sp>
      <p:sp>
        <p:nvSpPr>
          <p:cNvPr id="29" name="Text 24"/>
          <p:cNvSpPr txBox="1"/>
          <p:nvPr/>
        </p:nvSpPr>
        <p:spPr>
          <a:xfrm>
            <a:off x="8732520" y="3657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APPROVAL_GRANTED / REJECTED</a:t>
            </a:r>
            <a:endParaRPr lang="en-US" sz="1200" dirty="0"/>
          </a:p>
        </p:txBody>
      </p:sp>
      <p:sp>
        <p:nvSpPr>
          <p:cNvPr id="30" name="card"/>
          <p:cNvSpPr/>
          <p:nvPr/>
        </p:nvSpPr>
        <p:spPr>
          <a:xfrm>
            <a:off x="6766560" y="4389120"/>
            <a:ext cx="4965192" cy="1874520"/>
          </a:xfrm>
          <a:prstGeom prst="roundRect">
            <a:avLst>
              <a:gd name="adj" fmla="val 4878"/>
            </a:avLst>
          </a:prstGeom>
          <a:solidFill>
            <a:schemeClr val="bg2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6995160" y="4480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PostgreSQL tables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6995160" y="4892040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IncidentDB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9326880" y="4892040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IncidentPayloadDB</a:t>
            </a:r>
            <a:endParaRPr lang="en-US" sz="1100" dirty="0"/>
          </a:p>
        </p:txBody>
      </p:sp>
      <p:sp>
        <p:nvSpPr>
          <p:cNvPr id="34" name="Text 29"/>
          <p:cNvSpPr txBox="1"/>
          <p:nvPr/>
        </p:nvSpPr>
        <p:spPr>
          <a:xfrm>
            <a:off x="6995160" y="5276088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WorkflowRunDB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9326880" y="5276088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AgentEventDB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6995160" y="5660136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DiagnosisDB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9326880" y="5660136"/>
            <a:ext cx="2194560" cy="310896"/>
          </a:xfrm>
          <a:prstGeom prst="roundRect">
            <a:avLst>
              <a:gd name="adj" fmla="val 17647"/>
            </a:avLst>
          </a:prstGeom>
          <a:solidFill>
            <a:schemeClr val="bg1"/>
          </a:solidFill>
          <a:ln w="9525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RemediationPlanDB</a:t>
            </a:r>
            <a:endParaRPr lang="en-US" sz="1100" dirty="0"/>
          </a:p>
        </p:txBody>
      </p:sp>
      <p:sp>
        <p:nvSpPr>
          <p:cNvPr id="38" name="Text 33"/>
          <p:cNvSpPr txBox="1"/>
          <p:nvPr/>
        </p:nvSpPr>
        <p:spPr>
          <a:xfrm>
            <a:off x="6995160" y="5989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6"/>
                </a:solidFill>
              </a:rPr>
              <a:t>approval_status:  PENDING → APPROVED | REJECTED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Observability with LangSmith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4480560" cy="3154680"/>
          </a:xfrm>
          <a:prstGeom prst="roundRect">
            <a:avLst>
              <a:gd name="adj" fmla="val 2899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One incident, one trace (illustrative)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42062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incident run (incident_id, tenant_id)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validate_trigger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fetch_logs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validate_incident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retrieve_similar_incidents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diagnose_failure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ChatGroq call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generate_remediation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 ChatGroq call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validate_remediation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store_incident_memory</a:t>
            </a:r>
            <a:endParaRPr lang="en-US" sz="1400" dirty="0"/>
          </a:p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build_response</a:t>
            </a:r>
            <a:endParaRPr lang="en-US" sz="1400" dirty="0"/>
          </a:p>
        </p:txBody>
      </p:sp>
      <p:pic>
        <p:nvPicPr>
          <p:cNvPr id="7" name="Image 0" descr="LangSmith tracing view of the capstone_app project showing pipeline_agent.poll_tick and pipeline_agent.start ru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1274500"/>
            <a:ext cx="6565392" cy="3154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166360" y="1280160"/>
            <a:ext cx="6565392" cy="3149020"/>
          </a:xfrm>
          <a:prstGeom prst="rect">
            <a:avLst/>
          </a:prstGeom>
          <a:ln w="12700">
            <a:solidFill>
              <a:schemeClr val="bg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166360" y="4480560"/>
            <a:ext cx="6565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6"/>
                </a:solidFill>
              </a:rPr>
              <a:t>LangSmith project capstone_app: live traces of pipeline_agent.start and pipeline_agent.poll_tick</a:t>
            </a:r>
            <a:endParaRPr lang="en-US" sz="1200" dirty="0"/>
          </a:p>
        </p:txBody>
      </p:sp>
      <p:sp>
        <p:nvSpPr>
          <p:cNvPr id="10" name="card"/>
          <p:cNvSpPr/>
          <p:nvPr/>
        </p:nvSpPr>
        <p:spPr>
          <a:xfrm>
            <a:off x="457200" y="4892040"/>
            <a:ext cx="363016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1" name="Shape 7"/>
          <p:cNvSpPr/>
          <p:nvPr/>
        </p:nvSpPr>
        <p:spPr>
          <a:xfrm>
            <a:off x="662940" y="5344668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2" name="Image 1" descr="FaEy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670" y="547039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495604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New Relic: telemetry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Each Spark stage emits logs tagged with PIPELINE_ID. The Diagnosis Agent queries them as evidence.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4279392" y="4892040"/>
            <a:ext cx="363016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4485132" y="534466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Image 2" descr="FaProjectDiagram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0862" y="5470398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102352" y="495604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LangSmith: agent traces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Enabled with env vars only (LANGSMITH_TRACING, API_KEY, PROJECT). Runs and LLM calls are traced with no code change.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8101584" y="4892040"/>
            <a:ext cx="3630168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/>
        </p:spPr>
      </p:sp>
      <p:sp>
        <p:nvSpPr>
          <p:cNvPr id="19" name="Shape 13"/>
          <p:cNvSpPr/>
          <p:nvPr/>
        </p:nvSpPr>
        <p:spPr>
          <a:xfrm>
            <a:off x="8307324" y="534466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FaClipboardLis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054" y="5470398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924544" y="4956048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PostgreSQL: audit trail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AgentEventDB records each step, from PIPELINE_FAILED to the human decision.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Tech stack and tenant isolation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5" name="Shape 2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Image 0" descr="FaBrai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AiDiagnosis  :8000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731520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LangGraph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LangChain + langchain-groq (openai/gpt-oss-20b)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ChromaDB, local persistent vector store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Relic NerdGraph for logs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79392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10" name="Shape 6"/>
          <p:cNvSpPr/>
          <p:nvPr/>
        </p:nvSpPr>
        <p:spPr>
          <a:xfrm>
            <a:off x="4462272" y="1463040"/>
            <a:ext cx="548640" cy="54864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1" name="Image 1" descr="FaServ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1600200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48072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DataPipeline  :8001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553712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FastAPI mock retail source APIs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PySpark (retail-spark-pipeline)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AWS S3 data lake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Relic OTLP telemetry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101584" y="1280160"/>
            <a:ext cx="3630168" cy="3063240"/>
          </a:xfrm>
          <a:prstGeom prst="roundRect">
            <a:avLst>
              <a:gd name="adj" fmla="val 2985"/>
            </a:avLst>
          </a:prstGeom>
          <a:solidFill>
            <a:schemeClr val="bg2"/>
          </a:solidFill>
          <a:ln/>
        </p:spPr>
      </p:sp>
      <p:sp>
        <p:nvSpPr>
          <p:cNvPr id="15" name="Shape 10"/>
          <p:cNvSpPr/>
          <p:nvPr/>
        </p:nvSpPr>
        <p:spPr>
          <a:xfrm>
            <a:off x="8284464" y="1463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Image 2" descr="FaPla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6002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970264" y="15087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capstone-ui  :3000 / :8003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8375904" y="224028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Reflex (frontend and backend)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Separate FastAPI backend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PostgreSQL with SQLAlchemy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httpx for service-to-service calls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594360" y="448056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0" name="Image 3" descr="FaLock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61772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Strict tenant isolation, end to end</a:t>
            </a:r>
            <a:endParaRPr lang="en-US" sz="2000" dirty="0"/>
          </a:p>
        </p:txBody>
      </p:sp>
      <p:sp>
        <p:nvSpPr>
          <p:cNvPr id="22" name="card"/>
          <p:cNvSpPr/>
          <p:nvPr/>
        </p:nvSpPr>
        <p:spPr>
          <a:xfrm>
            <a:off x="457200" y="5212080"/>
            <a:ext cx="3630168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3" name="Text 16"/>
          <p:cNvSpPr txBox="1"/>
          <p:nvPr/>
        </p:nvSpPr>
        <p:spPr>
          <a:xfrm>
            <a:off x="640080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DataPipeline: every run carries an X-Tenant-ID header</a:t>
            </a:r>
            <a:endParaRPr lang="en-US" sz="1500" dirty="0"/>
          </a:p>
        </p:txBody>
      </p:sp>
      <p:sp>
        <p:nvSpPr>
          <p:cNvPr id="24" name="card"/>
          <p:cNvSpPr/>
          <p:nvPr/>
        </p:nvSpPr>
        <p:spPr>
          <a:xfrm>
            <a:off x="4279392" y="5212080"/>
            <a:ext cx="3630168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5" name="Text 18"/>
          <p:cNvSpPr txBox="1"/>
          <p:nvPr/>
        </p:nvSpPr>
        <p:spPr>
          <a:xfrm>
            <a:off x="4462272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AiDiagnosis: Chroma queries are scoped by tenant_id</a:t>
            </a:r>
            <a:endParaRPr lang="en-US" sz="1500" dirty="0"/>
          </a:p>
        </p:txBody>
      </p:sp>
      <p:sp>
        <p:nvSpPr>
          <p:cNvPr id="26" name="card"/>
          <p:cNvSpPr/>
          <p:nvPr/>
        </p:nvSpPr>
        <p:spPr>
          <a:xfrm>
            <a:off x="8101584" y="5212080"/>
            <a:ext cx="3630168" cy="1051560"/>
          </a:xfrm>
          <a:prstGeom prst="roundRect">
            <a:avLst>
              <a:gd name="adj" fmla="val 8696"/>
            </a:avLst>
          </a:prstGeom>
          <a:solidFill>
            <a:schemeClr val="accent4">
              <a:alpha val="10000"/>
            </a:schemeClr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284464" y="5257800"/>
            <a:ext cx="32644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PostgreSQL: incident rows are scoped by tenant_id</a:t>
            </a:r>
            <a:endParaRPr lang="en-US" sz="15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320040"/>
            <a:ext cx="11274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2"/>
                </a:solidFill>
              </a:rPr>
              <a:t>Demo flow and next steps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457200" y="1280160"/>
            <a:ext cx="6492240" cy="4983480"/>
          </a:xfrm>
          <a:prstGeom prst="roundRect">
            <a:avLst>
              <a:gd name="adj" fmla="val 1835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Demo flow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9456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01168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Open the Sentinel dashboard and run the pipeline for tenant_002, which is seeded to fail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283464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Watch the status poll tick until the run shows FAILED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84048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365760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Expand the incident: root cause, evidence and remedies from the agents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66344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280160" y="448056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Click Approve &amp; Execute and confirm approval_status: APPROVED via the API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48640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5303520"/>
            <a:ext cx="5440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Open the LangSmith trace for the same incident in the capstone_app project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269480" y="1325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7" name="card"/>
          <p:cNvSpPr/>
          <p:nvPr/>
        </p:nvSpPr>
        <p:spPr>
          <a:xfrm>
            <a:off x="7269480" y="1920240"/>
            <a:ext cx="44622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498080" y="23088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mage 0" descr="FaBol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2446020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229600" y="201168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Execution agent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Carry out an approved action, then check the result.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7269480" y="3383280"/>
            <a:ext cx="44622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498080" y="37719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3" name="Image 1" descr="FaProjectDiagram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909060"/>
            <a:ext cx="274320" cy="2743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229600" y="347472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Fuller tracing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@traceable around New Relic and Chroma calls and tag spans with incident_id and tenant_id.</a:t>
            </a:r>
            <a:endParaRPr lang="en-US" sz="1400" dirty="0"/>
          </a:p>
        </p:txBody>
      </p:sp>
      <p:sp>
        <p:nvSpPr>
          <p:cNvPr id="25" name="card"/>
          <p:cNvSpPr/>
          <p:nvPr/>
        </p:nvSpPr>
        <p:spPr>
          <a:xfrm>
            <a:off x="7269480" y="4846320"/>
            <a:ext cx="4462272" cy="1325880"/>
          </a:xfrm>
          <a:prstGeom prst="roundRect">
            <a:avLst>
              <a:gd name="adj" fmla="val 6897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498080" y="52349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Image 2" descr="FaUserChec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537210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229600" y="4937760"/>
            <a:ext cx="3383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Approval everywhere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Add Approve / Reject to the legacy incident-detail page.</a:t>
            </a:r>
            <a:endParaRPr lang="en-US" sz="14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 Light">
  <a:themeElements>
    <a:clrScheme name="Sentinel Light">
      <a:dk1>
        <a:srgbClr val="1B2A3A"/>
      </a:dk1>
      <a:lt1>
        <a:srgbClr val="FFFFFF"/>
      </a:lt1>
      <a:dk2>
        <a:srgbClr val="0B4F5C"/>
      </a:dk2>
      <a:lt2>
        <a:srgbClr val="EEF3F6"/>
      </a:lt2>
      <a:accent1>
        <a:srgbClr val="0F7C8C"/>
      </a:accent1>
      <a:accent2>
        <a:srgbClr val="C26500"/>
      </a:accent2>
      <a:accent3>
        <a:srgbClr val="5B5FC7"/>
      </a:accent3>
      <a:accent4>
        <a:srgbClr val="23805A"/>
      </a:accent4>
      <a:accent5>
        <a:srgbClr val="C8483A"/>
      </a:accent5>
      <a:accent6>
        <a:srgbClr val="5F6B78"/>
      </a:accent6>
      <a:hlink>
        <a:srgbClr val="0F7C8C"/>
      </a:hlink>
      <a:folHlink>
        <a:srgbClr val="5B5FC7"/>
      </a:folHlink>
    </a:clrScheme>
    <a:fontScheme name="Sentinel L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2654</Words>
  <Application>Microsoft Office PowerPoint</Application>
  <PresentationFormat>Widescreen</PresentationFormat>
  <Paragraphs>443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Courier New</vt:lpstr>
      <vt:lpstr>Sentinel Light</vt:lpstr>
      <vt:lpstr>Sentinel</vt:lpstr>
      <vt:lpstr>Pipeline failures are found late and fixed by hand</vt:lpstr>
      <vt:lpstr>End-to-end flow: UI, pipeline and agents</vt:lpstr>
      <vt:lpstr>How agents cut cost and people effort</vt:lpstr>
      <vt:lpstr>Retail Multi Tenant data pipeline: why we need it</vt:lpstr>
      <vt:lpstr>End-to-end architecture: Bronze → Silver → Gold</vt:lpstr>
      <vt:lpstr>Raw data → Bronze → Validation</vt:lpstr>
      <vt:lpstr>Silver → Transformation → Gold</vt:lpstr>
      <vt:lpstr>UI, Reflex, PostgreSQL and Agent</vt:lpstr>
      <vt:lpstr>Sentinel: three agents and one human gate</vt:lpstr>
      <vt:lpstr>LangGraph: agents, nodes and the human gate</vt:lpstr>
      <vt:lpstr>What each LangGraph node does</vt:lpstr>
      <vt:lpstr>Human approval and the audit trail</vt:lpstr>
      <vt:lpstr>Observability with LangSmith</vt:lpstr>
      <vt:lpstr>Tech stack and tenant isolation</vt:lpstr>
      <vt:lpstr>Demo flow and next steps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Sentinel: Autonomous Data Pipeline Incident Management</dc:title>
  <dc:subject>PptxGenJS Presentation</dc:subject>
  <dc:creator>PptxGenJS</dc:creator>
  <cp:lastModifiedBy>user</cp:lastModifiedBy>
  <cp:revision>2</cp:revision>
  <dcterms:created xsi:type="dcterms:W3CDTF">2026-10-05T18:24:02Z</dcterms:created>
  <dcterms:modified xsi:type="dcterms:W3CDTF">2026-10-05T18:36:14Z</dcterms:modified>
</cp:coreProperties>
</file>